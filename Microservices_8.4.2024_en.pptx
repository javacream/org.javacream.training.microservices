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</p:sldIdLst>
  <p:sldSz cy="51435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1" name="Google Shape;31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bcc21fbd01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bcc21fbd01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bc654254c5_0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1bc654254c5_0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bc654254c5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bc654254c5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bc654254c5_0_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bc654254c5_0_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bc654254c5_0_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bc654254c5_0_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bc654254c5_0_3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bc654254c5_0_3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bc654254c5_0_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bc654254c5_0_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bc654254c5_0_8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bc654254c5_0_8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bc654254c5_0_9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bc654254c5_0_9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bc654254c5_0_12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bc654254c5_0_12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bc654254c5_0_13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bc654254c5_0_13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bc654254c5_0_17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bc654254c5_0_17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bc654254c5_0_18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bc654254c5_0_18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bc654254c5_0_19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bc654254c5_0_19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bc654254c5_0_20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bc654254c5_0_20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bc654254c5_0_20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bc654254c5_0_20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bc654254c5_0_22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bc654254c5_0_22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bc654254c5_0_2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bc654254c5_0_2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bc654254c5_0_24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bc654254c5_0_24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bc654254c5_0_25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bc654254c5_0_25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bc654254c5_0_29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bc654254c5_0_29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bc654254c5_0_29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bc654254c5_0_29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bc654254c5_0_33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bc654254c5_0_33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bc654254c5_0_36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bc654254c5_0_36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bc654254c5_0_40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bc654254c5_0_40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bc654254c5_0_43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bc654254c5_0_43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bc654254c5_0_47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bc654254c5_0_47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bc654254c5_0_47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bc654254c5_0_47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bc654254c5_0_48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bc654254c5_0_48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bc654254c5_0_50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1bc654254c5_0_50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bc654254c5_0_5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1bc654254c5_0_5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bc654254c5_0_5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1bc654254c5_0_5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bc654254c5_0_53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bc654254c5_0_53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1bc654254c5_0_54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1bc654254c5_0_54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bc654254c5_0_55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1bc654254c5_0_55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bc654254c5_0_5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bc654254c5_0_5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1bc654254c5_0_56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1bc654254c5_0_56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1bc654254c5_0_60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1bc654254c5_0_60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1bc654254c5_0_6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1bc654254c5_0_6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1bc654254c5_0_65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1bc654254c5_0_65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1bc654254c5_0_69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1bc654254c5_0_69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bc654254c5_0_69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bc654254c5_0_69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bc654254c5_0_70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1bc654254c5_0_70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1bc654254c5_0_7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1bc654254c5_0_7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bc654254c5_0_71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bc654254c5_0_71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1bc654254c5_0_72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1bc654254c5_0_72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1bc654254c5_0_72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1bc654254c5_0_72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1bc654254c5_0_7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1bc654254c5_0_7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1bc654254c5_0_74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1bc654254c5_0_74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bc654254c5_0_76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bc654254c5_0_76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1bc654254c5_0_77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1bc654254c5_0_77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1bc654254c5_0_78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1bc654254c5_0_78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1bc654254c5_0_8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1bc654254c5_0_8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bc654254c5_0_8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1bc654254c5_0_8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bc654254c5_0_83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1bc654254c5_0_83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1bc654254c5_0_84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1bc654254c5_0_84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1bc654254c5_0_84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1bc654254c5_0_84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1bc654254c5_0_85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1bc654254c5_0_85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1bc654254c5_0_86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1bc654254c5_0_86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1bc654254c5_0_86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1bc654254c5_0_86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bc654254c5_0_87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bc654254c5_0_87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bc654254c5_0_89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bc654254c5_0_89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1bc654254c5_0_90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1bc654254c5_0_90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1bc654254c5_0_9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1bc654254c5_0_9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1bc654254c5_0_9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1bc654254c5_0_9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bc654254c5_0_95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bc654254c5_0_95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1bc654254c5_0_98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1bc654254c5_0_98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1bc654254c5_0_10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1bc654254c5_0_10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1bc654254c5_0_105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1bc654254c5_0_105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1bc654254c5_0_107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1bc654254c5_0_107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1bc654254c5_0_108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1bc654254c5_0_108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bc654254c5_0_109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bc654254c5_0_109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showMasterSp="0">
  <p:cSld name="Titelfoli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323851" y="1599642"/>
            <a:ext cx="8496300" cy="16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0000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4000"/>
              <a:buFont typeface="Arial"/>
              <a:buNone/>
              <a:defRPr sz="4000">
                <a:solidFill>
                  <a:srgbClr val="1155CC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713853" y="4914175"/>
            <a:ext cx="391500" cy="2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82424" y="152276"/>
            <a:ext cx="2766824" cy="7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>
                <a:solidFill>
                  <a:schemeClr val="dk1"/>
                </a:solidFill>
              </a:defRPr>
            </a:lvl1pPr>
            <a:lvl2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>
                <a:solidFill>
                  <a:schemeClr val="dk1"/>
                </a:solidFill>
              </a:defRPr>
            </a:lvl2pPr>
            <a:lvl3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  <a:defRPr>
                <a:solidFill>
                  <a:schemeClr val="dk1"/>
                </a:solidFill>
              </a:defRPr>
            </a:lvl3pPr>
            <a:lvl4pPr indent="-3175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dk1"/>
                </a:solidFill>
              </a:defRPr>
            </a:lvl4pPr>
            <a:lvl5pPr indent="-3048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▪"/>
              <a:defRPr>
                <a:solidFill>
                  <a:schemeClr val="dk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titel">
  <p:cSld name="CUSTOM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Clr>
                <a:srgbClr val="000000"/>
              </a:buClr>
              <a:buSzPts val="1000"/>
              <a:buFont typeface="Arial"/>
              <a:buNone/>
              <a:defRPr/>
            </a:lvl1pPr>
            <a:lvl2pPr lvl="1">
              <a:buClr>
                <a:srgbClr val="000000"/>
              </a:buClr>
              <a:buSzPts val="1000"/>
              <a:buFont typeface="Arial"/>
              <a:buNone/>
              <a:defRPr/>
            </a:lvl2pPr>
            <a:lvl3pPr lvl="2">
              <a:buClr>
                <a:srgbClr val="000000"/>
              </a:buClr>
              <a:buSzPts val="1000"/>
              <a:buFont typeface="Arial"/>
              <a:buNone/>
              <a:defRPr/>
            </a:lvl3pPr>
            <a:lvl4pPr lvl="3">
              <a:buClr>
                <a:srgbClr val="000000"/>
              </a:buClr>
              <a:buSzPts val="1000"/>
              <a:buFont typeface="Arial"/>
              <a:buNone/>
              <a:defRPr/>
            </a:lvl4pPr>
            <a:lvl5pPr lvl="4">
              <a:buClr>
                <a:srgbClr val="000000"/>
              </a:buClr>
              <a:buSzPts val="1000"/>
              <a:buFont typeface="Arial"/>
              <a:buNone/>
              <a:defRPr/>
            </a:lvl5pPr>
            <a:lvl6pPr lvl="5">
              <a:buClr>
                <a:srgbClr val="000000"/>
              </a:buClr>
              <a:buSzPts val="1000"/>
              <a:buFont typeface="Arial"/>
              <a:buNone/>
              <a:defRPr/>
            </a:lvl6pPr>
            <a:lvl7pPr lvl="6">
              <a:buClr>
                <a:srgbClr val="000000"/>
              </a:buClr>
              <a:buSzPts val="1000"/>
              <a:buFont typeface="Arial"/>
              <a:buNone/>
              <a:defRPr/>
            </a:lvl7pPr>
            <a:lvl8pPr lvl="7">
              <a:buClr>
                <a:srgbClr val="000000"/>
              </a:buClr>
              <a:buSzPts val="1000"/>
              <a:buFont typeface="Arial"/>
              <a:buNone/>
              <a:defRPr/>
            </a:lvl8pPr>
            <a:lvl9pPr lvl="8"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spcBef>
                <a:spcPts val="60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7" name="Google Shape;7;p1"/>
          <p:cNvCxnSpPr/>
          <p:nvPr/>
        </p:nvCxnSpPr>
        <p:spPr>
          <a:xfrm>
            <a:off x="0" y="4844654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" name="Google Shape;8;p1"/>
          <p:cNvCxnSpPr/>
          <p:nvPr/>
        </p:nvCxnSpPr>
        <p:spPr>
          <a:xfrm>
            <a:off x="0" y="701279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23528" y="897564"/>
            <a:ext cx="8496900" cy="3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/>
        </p:nvSpPr>
        <p:spPr>
          <a:xfrm>
            <a:off x="167550" y="4889475"/>
            <a:ext cx="1783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/>
              <a:t>j</a:t>
            </a:r>
            <a:r>
              <a:rPr lang="de-DE" sz="1000"/>
              <a:t>avacream.org</a:t>
            </a:r>
            <a:endParaRPr sz="1000"/>
          </a:p>
        </p:txBody>
      </p:sp>
      <p:sp>
        <p:nvSpPr>
          <p:cNvPr id="12" name="Google Shape;12;p1"/>
          <p:cNvSpPr txBox="1"/>
          <p:nvPr/>
        </p:nvSpPr>
        <p:spPr>
          <a:xfrm>
            <a:off x="2896425" y="4886000"/>
            <a:ext cx="28638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Microservices</a:t>
            </a:r>
            <a:endParaRPr sz="1200"/>
          </a:p>
        </p:txBody>
      </p:sp>
      <p:pic>
        <p:nvPicPr>
          <p:cNvPr id="13" name="Google Shape;13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587232" y="-133"/>
            <a:ext cx="2497668" cy="7014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5556">
          <p15:clr>
            <a:srgbClr val="F26B43"/>
          </p15:clr>
        </p15:guide>
        <p15:guide id="4" pos="204">
          <p15:clr>
            <a:srgbClr val="F26B43"/>
          </p15:clr>
        </p15:guide>
        <p15:guide id="5" pos="2971">
          <p15:clr>
            <a:srgbClr val="F26B43"/>
          </p15:clr>
        </p15:guide>
        <p15:guide id="6" pos="278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 xmlns:a="http://schemas.openxmlformats.org/drawingml/2006/main">
              <a:t/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6"/>
          <p:cNvSpPr txBox="1"/>
          <p:nvPr/>
        </p:nvSpPr>
        <p:spPr>
          <a:xfrm>
            <a:off x="324000" y="3219840"/>
            <a:ext cx="8496000" cy="11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xmlns:a="http://schemas.openxmlformats.org/drawingml/2006/main"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 xmlns:a="http://schemas.openxmlformats.org/drawingml/2006/main">
              <a:t/>
            </a:r>
            <a:endParaRPr xmlns:a="http://schemas.openxmlformats.org/drawingml/2006/main"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713853" y="4914175"/>
            <a:ext cx="391500" cy="2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23851" y="1599642"/>
            <a:ext cx="8496300" cy="1620300"/>
          </a:xfrm>
          <a:prstGeom prst="rect">
            <a:avLst/>
          </a:prstGeom>
        </p:spPr>
        <p:txBody>
          <a:bodyPr anchorCtr="0" anchor="b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Quick interview</a:t>
            </a:r>
            <a:endParaRPr xmlns:a="http://schemas.openxmlformats.org/drawingml/2006/main"/>
          </a:p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Surname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Role in the company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Prior knowledge of the topic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Current problem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Specific individual goals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9" name="Google Shape;49;p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initial situation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Primary task software development</a:t>
            </a:r>
            <a:endParaRPr xmlns:a="http://schemas.openxmlformats.org/drawingml/2006/main"/>
          </a:p>
        </p:txBody>
      </p:sp>
      <p:sp>
        <p:nvSpPr>
          <p:cNvPr id="57" name="Google Shape;57;p9"/>
          <p:cNvSpPr/>
          <p:nvPr/>
        </p:nvSpPr>
        <p:spPr>
          <a:xfrm>
            <a:off x="119400" y="1154075"/>
            <a:ext cx="725400" cy="79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58" name="Google Shape;58;p9"/>
          <p:cNvSpPr/>
          <p:nvPr/>
        </p:nvSpPr>
        <p:spPr>
          <a:xfrm>
            <a:off x="2457350" y="1070150"/>
            <a:ext cx="2655600" cy="95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Operations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Data schema</a:t>
            </a:r>
            <a:endParaRPr xmlns:a="http://schemas.openxmlformats.org/drawingml/2006/main"/>
          </a:p>
        </p:txBody>
      </p:sp>
      <p:cxnSp>
        <p:nvCxnSpPr>
          <p:cNvPr id="59" name="Google Shape;59;p9"/>
          <p:cNvCxnSpPr>
            <a:stCxn id="57" idx="3"/>
            <a:endCxn id="58" idx="1"/>
          </p:cNvCxnSpPr>
          <p:nvPr/>
        </p:nvCxnSpPr>
        <p:spPr>
          <a:xfrm flipH="1" rot="10800000">
            <a:off x="844800" y="1546775"/>
            <a:ext cx="1612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Expectations of the “customer”</a:t>
            </a:r>
            <a:endParaRPr xmlns:a="http://schemas.openxmlformats.org/drawingml/2006/main"/>
          </a:p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36550" lvl="0" marL="457200" rtl="0" algn="l"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 xmlns:a="http://schemas.openxmlformats.org/drawingml/2006/main">
              <a:rPr lang="en" sz="1700"/>
              <a:t>New features</a:t>
            </a:r>
            <a:endParaRPr xmlns:a="http://schemas.openxmlformats.org/drawingml/2006/main" sz="1700"/>
          </a:p>
          <a:p>
            <a:pPr xmlns:a="http://schemas.openxmlformats.org/drawingml/2006/main"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 xmlns:a="http://schemas.openxmlformats.org/drawingml/2006/main">
              <a:rPr lang="en" sz="1500"/>
              <a:t>Earlier</a:t>
            </a:r>
            <a:endParaRPr xmlns:a="http://schemas.openxmlformats.org/drawingml/2006/main" sz="1500"/>
          </a:p>
          <a:p>
            <a:pPr xmlns:a="http://schemas.openxmlformats.org/drawingml/2006/main"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 xmlns:a="http://schemas.openxmlformats.org/drawingml/2006/main">
              <a:rPr lang="en" sz="1300"/>
              <a:t>Fixed release planning with time scale of months/years</a:t>
            </a:r>
            <a:endParaRPr xmlns:a="http://schemas.openxmlformats.org/drawingml/2006/main" sz="1300"/>
          </a:p>
          <a:p>
            <a:pPr xmlns:a="http://schemas.openxmlformats.org/drawingml/2006/main"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 xmlns:a="http://schemas.openxmlformats.org/drawingml/2006/main">
              <a:rPr lang="en" sz="1500"/>
              <a:t>Today</a:t>
            </a:r>
            <a:endParaRPr xmlns:a="http://schemas.openxmlformats.org/drawingml/2006/main" sz="1500"/>
          </a:p>
          <a:p>
            <a:pPr xmlns:a="http://schemas.openxmlformats.org/drawingml/2006/main"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 xmlns:a="http://schemas.openxmlformats.org/drawingml/2006/main">
              <a:rPr lang="en" sz="1300"/>
              <a:t>New services/actors are available “continuously” = immediately</a:t>
            </a:r>
            <a:endParaRPr xmlns:a="http://schemas.openxmlformats.org/drawingml/2006/main" sz="1300"/>
          </a:p>
          <a:p>
            <a:pPr xmlns:a="http://schemas.openxmlformats.org/drawingml/2006/main" indent="-298450" lvl="3" marL="1828800" rtl="0" algn="l">
              <a:spcBef>
                <a:spcPts val="0"/>
              </a:spcBef>
              <a:spcAft>
                <a:spcPts val="0"/>
              </a:spcAft>
              <a:buSzPts val="1100"/>
              <a:buChar char="▪"/>
            </a:pPr>
            <a:r xmlns:a="http://schemas.openxmlformats.org/drawingml/2006/main">
              <a:rPr lang="en" sz="1100"/>
              <a:t>A few days / weeks</a:t>
            </a:r>
            <a:endParaRPr xmlns:a="http://schemas.openxmlformats.org/drawingml/2006/main" sz="1100"/>
          </a:p>
          <a:p>
            <a:pPr xmlns:a="http://schemas.openxmlformats.org/drawingml/2006/main"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 xmlns:a="http://schemas.openxmlformats.org/drawingml/2006/main">
              <a:rPr lang="en" sz="1700"/>
              <a:t>Availability</a:t>
            </a:r>
            <a:endParaRPr xmlns:a="http://schemas.openxmlformats.org/drawingml/2006/main" sz="1700"/>
          </a:p>
          <a:p>
            <a:pPr xmlns:a="http://schemas.openxmlformats.org/drawingml/2006/main"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 xmlns:a="http://schemas.openxmlformats.org/drawingml/2006/main">
              <a:rPr lang="en" sz="1500"/>
              <a:t>Earlier</a:t>
            </a:r>
            <a:endParaRPr xmlns:a="http://schemas.openxmlformats.org/drawingml/2006/main" sz="1500"/>
          </a:p>
          <a:p>
            <a:pPr xmlns:a="http://schemas.openxmlformats.org/drawingml/2006/main"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 xmlns:a="http://schemas.openxmlformats.org/drawingml/2006/main">
              <a:rPr lang="en" sz="1300"/>
              <a:t>Maintenance windows were accepted</a:t>
            </a:r>
            <a:endParaRPr xmlns:a="http://schemas.openxmlformats.org/drawingml/2006/main" sz="1300"/>
          </a:p>
          <a:p>
            <a:pPr xmlns:a="http://schemas.openxmlformats.org/drawingml/2006/main"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 xmlns:a="http://schemas.openxmlformats.org/drawingml/2006/main">
              <a:rPr lang="en" sz="1500"/>
              <a:t>Today</a:t>
            </a:r>
            <a:endParaRPr xmlns:a="http://schemas.openxmlformats.org/drawingml/2006/main" sz="1500"/>
          </a:p>
          <a:p>
            <a:pPr xmlns:a="http://schemas.openxmlformats.org/drawingml/2006/main"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 xmlns:a="http://schemas.openxmlformats.org/drawingml/2006/main">
              <a:rPr lang="en" sz="1300"/>
              <a:t>24*7</a:t>
            </a:r>
            <a:endParaRPr xmlns:a="http://schemas.openxmlformats.org/drawingml/2006/main" sz="1300"/>
          </a:p>
          <a:p>
            <a:pPr xmlns:a="http://schemas.openxmlformats.org/drawingml/2006/main"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 xmlns:a="http://schemas.openxmlformats.org/drawingml/2006/main">
              <a:rPr lang="en" sz="1700"/>
              <a:t>Data volume / scalability</a:t>
            </a:r>
            <a:endParaRPr xmlns:a="http://schemas.openxmlformats.org/drawingml/2006/main" sz="1700"/>
          </a:p>
          <a:p>
            <a:pPr xmlns:a="http://schemas.openxmlformats.org/drawingml/2006/main"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 xmlns:a="http://schemas.openxmlformats.org/drawingml/2006/main">
              <a:rPr lang="en" sz="1500"/>
              <a:t>Earlier</a:t>
            </a:r>
            <a:endParaRPr xmlns:a="http://schemas.openxmlformats.org/drawingml/2006/main" sz="1500"/>
          </a:p>
          <a:p>
            <a:pPr xmlns:a="http://schemas.openxmlformats.org/drawingml/2006/main"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 xmlns:a="http://schemas.openxmlformats.org/drawingml/2006/main">
              <a:rPr lang="en" sz="1300"/>
              <a:t>Static capacity planning</a:t>
            </a:r>
            <a:endParaRPr xmlns:a="http://schemas.openxmlformats.org/drawingml/2006/main" sz="1300"/>
          </a:p>
          <a:p>
            <a:pPr xmlns:a="http://schemas.openxmlformats.org/drawingml/2006/main"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 xmlns:a="http://schemas.openxmlformats.org/drawingml/2006/main">
              <a:rPr lang="en" sz="1500"/>
              <a:t>Today</a:t>
            </a:r>
            <a:endParaRPr xmlns:a="http://schemas.openxmlformats.org/drawingml/2006/main" sz="1500"/>
          </a:p>
          <a:p>
            <a:pPr xmlns:a="http://schemas.openxmlformats.org/drawingml/2006/main"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 xmlns:a="http://schemas.openxmlformats.org/drawingml/2006/main">
              <a:rPr lang="en" sz="1500"/>
              <a:t>Dynamic up &amp; down scaling</a:t>
            </a:r>
            <a:endParaRPr xmlns:a="http://schemas.openxmlformats.org/drawingml/2006/main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2" name="Google Shape;72;p1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Implementation: Monolithic</a:t>
            </a:r>
            <a:endParaRPr xmlns:a="http://schemas.openxmlformats.org/drawingml/2006/main"/>
          </a:p>
        </p:txBody>
      </p:sp>
      <p:sp>
        <p:nvSpPr>
          <p:cNvPr id="73" name="Google Shape;73;p11"/>
          <p:cNvSpPr/>
          <p:nvPr/>
        </p:nvSpPr>
        <p:spPr>
          <a:xfrm>
            <a:off x="59875" y="2108450"/>
            <a:ext cx="725400" cy="79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74" name="Google Shape;74;p11"/>
          <p:cNvSpPr/>
          <p:nvPr/>
        </p:nvSpPr>
        <p:spPr>
          <a:xfrm>
            <a:off x="2457350" y="1070150"/>
            <a:ext cx="5906100" cy="286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cxnSp>
        <p:nvCxnSpPr>
          <p:cNvPr id="75" name="Google Shape;75;p11"/>
          <p:cNvCxnSpPr>
            <a:stCxn id="73" idx="3"/>
            <a:endCxn id="76" idx="1"/>
          </p:cNvCxnSpPr>
          <p:nvPr/>
        </p:nvCxnSpPr>
        <p:spPr>
          <a:xfrm>
            <a:off x="785275" y="2504150"/>
            <a:ext cx="144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" name="Google Shape;76;p11"/>
          <p:cNvSpPr/>
          <p:nvPr/>
        </p:nvSpPr>
        <p:spPr>
          <a:xfrm>
            <a:off x="2231875" y="2042750"/>
            <a:ext cx="1946700" cy="9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chemeClr val="accent2"/>
                </a:solidFill>
              </a:rPr>
              <a:t>API</a:t>
            </a:r>
            <a:endParaRPr xmlns:a="http://schemas.openxmlformats.org/drawingml/2006/main">
              <a:solidFill>
                <a:schemeClr val="accent2"/>
              </a:solidFill>
            </a:endParaRPr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+"/>
            </a:pPr>
            <a:r xmlns:a="http://schemas.openxmlformats.org/drawingml/2006/main">
              <a:rPr lang="en">
                <a:solidFill>
                  <a:schemeClr val="accent2"/>
                </a:solidFill>
              </a:rPr>
              <a:t>Operations</a:t>
            </a:r>
            <a:endParaRPr xmlns:a="http://schemas.openxmlformats.org/drawingml/2006/main">
              <a:solidFill>
                <a:schemeClr val="accent2"/>
              </a:solidFill>
            </a:endParaRPr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+"/>
            </a:pPr>
            <a:r xmlns:a="http://schemas.openxmlformats.org/drawingml/2006/main">
              <a:rPr lang="en">
                <a:solidFill>
                  <a:schemeClr val="accent2"/>
                </a:solidFill>
              </a:rPr>
              <a:t>Data schema</a:t>
            </a:r>
            <a:endParaRPr xmlns:a="http://schemas.openxmlformats.org/drawingml/2006/main"/>
          </a:p>
        </p:txBody>
      </p:sp>
      <p:sp>
        <p:nvSpPr>
          <p:cNvPr id="77" name="Google Shape;77;p11"/>
          <p:cNvSpPr/>
          <p:nvPr/>
        </p:nvSpPr>
        <p:spPr>
          <a:xfrm>
            <a:off x="4511900" y="1235350"/>
            <a:ext cx="2577600" cy="243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implementation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78" name="Google Shape;78;p11"/>
          <p:cNvCxnSpPr>
            <a:stCxn id="77" idx="1"/>
            <a:endCxn id="76" idx="3"/>
          </p:cNvCxnSpPr>
          <p:nvPr/>
        </p:nvCxnSpPr>
        <p:spPr>
          <a:xfrm flipH="1">
            <a:off x="4178600" y="2452750"/>
            <a:ext cx="333300" cy="5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1"/>
          <p:cNvSpPr/>
          <p:nvPr/>
        </p:nvSpPr>
        <p:spPr>
          <a:xfrm>
            <a:off x="4572000" y="2175950"/>
            <a:ext cx="1404900" cy="476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80" name="Google Shape;80;p11"/>
          <p:cNvSpPr/>
          <p:nvPr/>
        </p:nvSpPr>
        <p:spPr>
          <a:xfrm>
            <a:off x="6244275" y="1675875"/>
            <a:ext cx="725400" cy="595325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DB_A</a:t>
            </a:r>
            <a:endParaRPr xmlns:a="http://schemas.openxmlformats.org/drawingml/2006/main"/>
          </a:p>
        </p:txBody>
      </p:sp>
      <p:sp>
        <p:nvSpPr>
          <p:cNvPr id="81" name="Google Shape;81;p11"/>
          <p:cNvSpPr/>
          <p:nvPr/>
        </p:nvSpPr>
        <p:spPr>
          <a:xfrm>
            <a:off x="6244275" y="2514075"/>
            <a:ext cx="725400" cy="595325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DB_B</a:t>
            </a:r>
            <a:endParaRPr xmlns:a="http://schemas.openxmlformats.org/drawingml/2006/main"/>
          </a:p>
        </p:txBody>
      </p:sp>
      <p:cxnSp>
        <p:nvCxnSpPr>
          <p:cNvPr id="82" name="Google Shape;82;p11"/>
          <p:cNvCxnSpPr>
            <a:stCxn id="79" idx="3"/>
            <a:endCxn id="80" idx="2"/>
          </p:cNvCxnSpPr>
          <p:nvPr/>
        </p:nvCxnSpPr>
        <p:spPr>
          <a:xfrm flipH="1" rot="10800000">
            <a:off x="5976900" y="1973450"/>
            <a:ext cx="267300" cy="44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1"/>
          <p:cNvCxnSpPr>
            <a:stCxn id="79" idx="3"/>
            <a:endCxn id="81" idx="2"/>
          </p:cNvCxnSpPr>
          <p:nvPr/>
        </p:nvCxnSpPr>
        <p:spPr>
          <a:xfrm>
            <a:off x="5976900" y="2414150"/>
            <a:ext cx="267300" cy="3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1"/>
          <p:cNvSpPr txBox="1"/>
          <p:nvPr/>
        </p:nvSpPr>
        <p:spPr>
          <a:xfrm>
            <a:off x="7172950" y="1223450"/>
            <a:ext cx="1101300" cy="400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Stateless</a:t>
            </a:r>
            <a:endParaRPr xmlns:a="http://schemas.openxmlformats.org/drawingml/2006/main"/>
          </a:p>
        </p:txBody>
      </p:sp>
      <p:sp>
        <p:nvSpPr>
          <p:cNvPr id="85" name="Google Shape;85;p11"/>
          <p:cNvSpPr txBox="1"/>
          <p:nvPr/>
        </p:nvSpPr>
        <p:spPr>
          <a:xfrm>
            <a:off x="7178900" y="2116425"/>
            <a:ext cx="1149000" cy="4002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Persistent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Rating</a:t>
            </a:r>
            <a:endParaRPr xmlns:a="http://schemas.openxmlformats.org/drawingml/2006/main"/>
          </a:p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The Monolith is designed for a special actor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Size results from the complexity of the algorithms to be implemented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trend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"Too big"</a:t>
            </a:r>
            <a:endParaRPr xmlns:a="http://schemas.openxmlformats.org/drawingml/2006/main"/>
          </a:p>
          <a:p>
            <a:pPr xmlns:a="http://schemas.openxmlformats.org/drawingml/2006/main"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/>
              <a:t>Agile software development with extensions is then difficult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8" name="Google Shape;98;p1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Implementation: Modular</a:t>
            </a:r>
            <a:endParaRPr xmlns:a="http://schemas.openxmlformats.org/drawingml/2006/main"/>
          </a:p>
        </p:txBody>
      </p:sp>
      <p:sp>
        <p:nvSpPr>
          <p:cNvPr id="99" name="Google Shape;99;p13"/>
          <p:cNvSpPr/>
          <p:nvPr/>
        </p:nvSpPr>
        <p:spPr>
          <a:xfrm>
            <a:off x="119400" y="1154075"/>
            <a:ext cx="725400" cy="5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100" name="Google Shape;100;p13"/>
          <p:cNvSpPr/>
          <p:nvPr/>
        </p:nvSpPr>
        <p:spPr>
          <a:xfrm>
            <a:off x="2457350" y="1070150"/>
            <a:ext cx="3648600" cy="95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module</a:t>
            </a:r>
            <a:endParaRPr xmlns:a="http://schemas.openxmlformats.org/drawingml/2006/main"/>
          </a:p>
        </p:txBody>
      </p:sp>
      <p:cxnSp>
        <p:nvCxnSpPr>
          <p:cNvPr id="101" name="Google Shape;101;p13"/>
          <p:cNvCxnSpPr>
            <a:stCxn id="99" idx="3"/>
            <a:endCxn id="102" idx="1"/>
          </p:cNvCxnSpPr>
          <p:nvPr/>
        </p:nvCxnSpPr>
        <p:spPr>
          <a:xfrm>
            <a:off x="844800" y="1419125"/>
            <a:ext cx="1023300" cy="1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p13"/>
          <p:cNvSpPr/>
          <p:nvPr/>
        </p:nvSpPr>
        <p:spPr>
          <a:xfrm>
            <a:off x="3244175" y="1347275"/>
            <a:ext cx="1404900" cy="476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104" name="Google Shape;104;p13"/>
          <p:cNvSpPr/>
          <p:nvPr/>
        </p:nvSpPr>
        <p:spPr>
          <a:xfrm>
            <a:off x="2457350" y="2289350"/>
            <a:ext cx="3648600" cy="95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module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105" name="Google Shape;105;p13"/>
          <p:cNvSpPr/>
          <p:nvPr/>
        </p:nvSpPr>
        <p:spPr>
          <a:xfrm>
            <a:off x="3396500" y="2686300"/>
            <a:ext cx="1404900" cy="476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102" name="Google Shape;102;p13"/>
          <p:cNvSpPr/>
          <p:nvPr/>
        </p:nvSpPr>
        <p:spPr>
          <a:xfrm>
            <a:off x="1868200" y="1391400"/>
            <a:ext cx="644400" cy="29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106" name="Google Shape;106;p13"/>
          <p:cNvCxnSpPr>
            <a:stCxn id="103" idx="1"/>
            <a:endCxn id="102" idx="3"/>
          </p:cNvCxnSpPr>
          <p:nvPr/>
        </p:nvCxnSpPr>
        <p:spPr>
          <a:xfrm rot="10800000">
            <a:off x="2512475" y="1537775"/>
            <a:ext cx="731700" cy="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p13"/>
          <p:cNvSpPr/>
          <p:nvPr/>
        </p:nvSpPr>
        <p:spPr>
          <a:xfrm>
            <a:off x="1909200" y="2738800"/>
            <a:ext cx="725400" cy="2928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108" name="Google Shape;108;p13"/>
          <p:cNvCxnSpPr>
            <a:endCxn id="107" idx="3"/>
          </p:cNvCxnSpPr>
          <p:nvPr/>
        </p:nvCxnSpPr>
        <p:spPr>
          <a:xfrm rot="10800000">
            <a:off x="2634600" y="2885200"/>
            <a:ext cx="762000" cy="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3"/>
          <p:cNvCxnSpPr>
            <a:stCxn id="103" idx="2"/>
            <a:endCxn id="107" idx="1"/>
          </p:cNvCxnSpPr>
          <p:nvPr/>
        </p:nvCxnSpPr>
        <p:spPr>
          <a:xfrm flipH="1">
            <a:off x="1909325" y="1823675"/>
            <a:ext cx="2037300" cy="10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3"/>
          <p:cNvSpPr/>
          <p:nvPr/>
        </p:nvSpPr>
        <p:spPr>
          <a:xfrm>
            <a:off x="2457350" y="3508550"/>
            <a:ext cx="3648600" cy="95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Module3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111" name="Google Shape;111;p13"/>
          <p:cNvSpPr/>
          <p:nvPr/>
        </p:nvSpPr>
        <p:spPr>
          <a:xfrm>
            <a:off x="3396500" y="3905500"/>
            <a:ext cx="1404900" cy="476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112" name="Google Shape;112;p13"/>
          <p:cNvSpPr/>
          <p:nvPr/>
        </p:nvSpPr>
        <p:spPr>
          <a:xfrm>
            <a:off x="1909200" y="3958000"/>
            <a:ext cx="725400" cy="2928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113" name="Google Shape;113;p13"/>
          <p:cNvCxnSpPr>
            <a:stCxn id="105" idx="2"/>
            <a:endCxn id="112" idx="1"/>
          </p:cNvCxnSpPr>
          <p:nvPr/>
        </p:nvCxnSpPr>
        <p:spPr>
          <a:xfrm flipH="1">
            <a:off x="1909250" y="3162700"/>
            <a:ext cx="2189700" cy="9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3"/>
          <p:cNvSpPr/>
          <p:nvPr/>
        </p:nvSpPr>
        <p:spPr>
          <a:xfrm>
            <a:off x="81450" y="2691925"/>
            <a:ext cx="1113000" cy="47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Actor_B</a:t>
            </a:r>
            <a:endParaRPr xmlns:a="http://schemas.openxmlformats.org/drawingml/2006/main"/>
          </a:p>
        </p:txBody>
      </p:sp>
      <p:cxnSp>
        <p:nvCxnSpPr>
          <p:cNvPr id="115" name="Google Shape;115;p13"/>
          <p:cNvCxnSpPr>
            <a:endCxn id="107" idx="1"/>
          </p:cNvCxnSpPr>
          <p:nvPr/>
        </p:nvCxnSpPr>
        <p:spPr>
          <a:xfrm flipH="1" rot="10800000">
            <a:off x="1194300" y="2885200"/>
            <a:ext cx="714900" cy="4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p13"/>
          <p:cNvSpPr/>
          <p:nvPr/>
        </p:nvSpPr>
        <p:spPr>
          <a:xfrm>
            <a:off x="81450" y="3911125"/>
            <a:ext cx="1113000" cy="47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Actor_C</a:t>
            </a:r>
            <a:endParaRPr xmlns:a="http://schemas.openxmlformats.org/drawingml/2006/main"/>
          </a:p>
        </p:txBody>
      </p:sp>
      <p:cxnSp>
        <p:nvCxnSpPr>
          <p:cNvPr id="117" name="Google Shape;117;p13"/>
          <p:cNvCxnSpPr>
            <a:endCxn id="112" idx="1"/>
          </p:cNvCxnSpPr>
          <p:nvPr/>
        </p:nvCxnSpPr>
        <p:spPr>
          <a:xfrm flipH="1" rot="10800000">
            <a:off x="1194300" y="4104400"/>
            <a:ext cx="714900" cy="4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13"/>
          <p:cNvSpPr/>
          <p:nvPr/>
        </p:nvSpPr>
        <p:spPr>
          <a:xfrm>
            <a:off x="6753925" y="2000650"/>
            <a:ext cx="2114825" cy="12829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Data sinks are not yet taken into account here… -&gt; later</a:t>
            </a:r>
            <a:endParaRPr xmlns:a="http://schemas.openxmlformats.org/drawingml/2006/main"/>
          </a:p>
        </p:txBody>
      </p:sp>
      <p:cxnSp>
        <p:nvCxnSpPr>
          <p:cNvPr id="119" name="Google Shape;119;p13"/>
          <p:cNvCxnSpPr>
            <a:stCxn id="111" idx="1"/>
            <a:endCxn id="112" idx="3"/>
          </p:cNvCxnSpPr>
          <p:nvPr/>
        </p:nvCxnSpPr>
        <p:spPr>
          <a:xfrm rot="10800000">
            <a:off x="2634500" y="4104400"/>
            <a:ext cx="762000" cy="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Rating</a:t>
            </a:r>
            <a:endParaRPr xmlns:a="http://schemas.openxmlformats.org/drawingml/2006/main"/>
          </a:p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6" name="Google Shape;126;p14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The smaller modules ensure better maintainability/reusability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Testability is given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If a module has become too large, it can be broken down into smaller modules by “refactoring”.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This makes it possible to develop a single module in a much more agile manner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A modularized application can still be monolithic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Implementation: Modularized monolith</a:t>
            </a:r>
            <a:endParaRPr xmlns:a="http://schemas.openxmlformats.org/drawingml/2006/main"/>
          </a:p>
        </p:txBody>
      </p:sp>
      <p:sp>
        <p:nvSpPr>
          <p:cNvPr id="133" name="Google Shape;133;p15"/>
          <p:cNvSpPr/>
          <p:nvPr/>
        </p:nvSpPr>
        <p:spPr>
          <a:xfrm>
            <a:off x="1756775" y="761975"/>
            <a:ext cx="7560525" cy="37715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134" name="Google Shape;134;p15"/>
          <p:cNvSpPr/>
          <p:nvPr/>
        </p:nvSpPr>
        <p:spPr>
          <a:xfrm>
            <a:off x="119400" y="1154075"/>
            <a:ext cx="725400" cy="5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135" name="Google Shape;135;p15"/>
          <p:cNvSpPr/>
          <p:nvPr/>
        </p:nvSpPr>
        <p:spPr>
          <a:xfrm>
            <a:off x="3371750" y="1070150"/>
            <a:ext cx="3648600" cy="95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module</a:t>
            </a:r>
            <a:endParaRPr xmlns:a="http://schemas.openxmlformats.org/drawingml/2006/main"/>
          </a:p>
        </p:txBody>
      </p:sp>
      <p:cxnSp>
        <p:nvCxnSpPr>
          <p:cNvPr id="136" name="Google Shape;136;p15"/>
          <p:cNvCxnSpPr>
            <a:stCxn id="134" idx="3"/>
            <a:endCxn id="137" idx="1"/>
          </p:cNvCxnSpPr>
          <p:nvPr/>
        </p:nvCxnSpPr>
        <p:spPr>
          <a:xfrm>
            <a:off x="844800" y="1419125"/>
            <a:ext cx="642300" cy="1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5"/>
          <p:cNvSpPr/>
          <p:nvPr/>
        </p:nvSpPr>
        <p:spPr>
          <a:xfrm>
            <a:off x="3929975" y="1423475"/>
            <a:ext cx="1404900" cy="476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139" name="Google Shape;139;p15"/>
          <p:cNvSpPr/>
          <p:nvPr/>
        </p:nvSpPr>
        <p:spPr>
          <a:xfrm>
            <a:off x="3371750" y="2289350"/>
            <a:ext cx="3648600" cy="95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module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140" name="Google Shape;140;p15"/>
          <p:cNvSpPr/>
          <p:nvPr/>
        </p:nvSpPr>
        <p:spPr>
          <a:xfrm>
            <a:off x="3929900" y="2686300"/>
            <a:ext cx="1404900" cy="476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137" name="Google Shape;137;p15"/>
          <p:cNvSpPr/>
          <p:nvPr/>
        </p:nvSpPr>
        <p:spPr>
          <a:xfrm>
            <a:off x="1487200" y="1391400"/>
            <a:ext cx="644400" cy="29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141" name="Google Shape;141;p15"/>
          <p:cNvCxnSpPr>
            <a:stCxn id="138" idx="1"/>
            <a:endCxn id="137" idx="3"/>
          </p:cNvCxnSpPr>
          <p:nvPr/>
        </p:nvCxnSpPr>
        <p:spPr>
          <a:xfrm rot="10800000">
            <a:off x="2131475" y="1537775"/>
            <a:ext cx="1798500" cy="12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15"/>
          <p:cNvSpPr/>
          <p:nvPr/>
        </p:nvSpPr>
        <p:spPr>
          <a:xfrm>
            <a:off x="2671200" y="2738800"/>
            <a:ext cx="725400" cy="2928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143" name="Google Shape;143;p15"/>
          <p:cNvCxnSpPr>
            <a:endCxn id="142" idx="3"/>
          </p:cNvCxnSpPr>
          <p:nvPr/>
        </p:nvCxnSpPr>
        <p:spPr>
          <a:xfrm rot="10800000">
            <a:off x="3396600" y="2885200"/>
            <a:ext cx="762000" cy="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5"/>
          <p:cNvCxnSpPr>
            <a:stCxn id="138" idx="2"/>
            <a:endCxn id="142" idx="1"/>
          </p:cNvCxnSpPr>
          <p:nvPr/>
        </p:nvCxnSpPr>
        <p:spPr>
          <a:xfrm flipH="1">
            <a:off x="2671325" y="1899875"/>
            <a:ext cx="1961100" cy="9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15"/>
          <p:cNvSpPr/>
          <p:nvPr/>
        </p:nvSpPr>
        <p:spPr>
          <a:xfrm>
            <a:off x="3371750" y="3508550"/>
            <a:ext cx="3648600" cy="95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Module3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146" name="Google Shape;146;p15"/>
          <p:cNvSpPr/>
          <p:nvPr/>
        </p:nvSpPr>
        <p:spPr>
          <a:xfrm>
            <a:off x="3929900" y="3905500"/>
            <a:ext cx="1404900" cy="476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147" name="Google Shape;147;p15"/>
          <p:cNvSpPr/>
          <p:nvPr/>
        </p:nvSpPr>
        <p:spPr>
          <a:xfrm>
            <a:off x="2366400" y="3958000"/>
            <a:ext cx="725400" cy="2928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148" name="Google Shape;148;p15"/>
          <p:cNvCxnSpPr>
            <a:stCxn id="140" idx="2"/>
            <a:endCxn id="147" idx="1"/>
          </p:cNvCxnSpPr>
          <p:nvPr/>
        </p:nvCxnSpPr>
        <p:spPr>
          <a:xfrm flipH="1">
            <a:off x="2366450" y="3162700"/>
            <a:ext cx="2265900" cy="9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15"/>
          <p:cNvSpPr/>
          <p:nvPr/>
        </p:nvSpPr>
        <p:spPr>
          <a:xfrm>
            <a:off x="1833450" y="2135888"/>
            <a:ext cx="1113000" cy="47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test</a:t>
            </a:r>
            <a:endParaRPr xmlns:a="http://schemas.openxmlformats.org/drawingml/2006/main"/>
          </a:p>
        </p:txBody>
      </p:sp>
      <p:cxnSp>
        <p:nvCxnSpPr>
          <p:cNvPr id="150" name="Google Shape;150;p15"/>
          <p:cNvCxnSpPr>
            <a:stCxn id="149" idx="2"/>
            <a:endCxn id="142" idx="1"/>
          </p:cNvCxnSpPr>
          <p:nvPr/>
        </p:nvCxnSpPr>
        <p:spPr>
          <a:xfrm>
            <a:off x="2389950" y="2612288"/>
            <a:ext cx="281400" cy="2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15"/>
          <p:cNvSpPr/>
          <p:nvPr/>
        </p:nvSpPr>
        <p:spPr>
          <a:xfrm>
            <a:off x="1834050" y="3301525"/>
            <a:ext cx="1113000" cy="47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test</a:t>
            </a:r>
            <a:endParaRPr xmlns:a="http://schemas.openxmlformats.org/drawingml/2006/main"/>
          </a:p>
        </p:txBody>
      </p:sp>
      <p:cxnSp>
        <p:nvCxnSpPr>
          <p:cNvPr id="152" name="Google Shape;152;p15"/>
          <p:cNvCxnSpPr>
            <a:stCxn id="151" idx="1"/>
            <a:endCxn id="147" idx="1"/>
          </p:cNvCxnSpPr>
          <p:nvPr/>
        </p:nvCxnSpPr>
        <p:spPr>
          <a:xfrm>
            <a:off x="1834050" y="3539725"/>
            <a:ext cx="532500" cy="56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5"/>
          <p:cNvCxnSpPr>
            <a:stCxn id="146" idx="1"/>
            <a:endCxn id="147" idx="3"/>
          </p:cNvCxnSpPr>
          <p:nvPr/>
        </p:nvCxnSpPr>
        <p:spPr>
          <a:xfrm rot="10800000">
            <a:off x="3091700" y="4104400"/>
            <a:ext cx="838200" cy="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15"/>
          <p:cNvSpPr/>
          <p:nvPr/>
        </p:nvSpPr>
        <p:spPr>
          <a:xfrm>
            <a:off x="7542475" y="1223200"/>
            <a:ext cx="887425" cy="7531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155" name="Google Shape;155;p15"/>
          <p:cNvSpPr/>
          <p:nvPr/>
        </p:nvSpPr>
        <p:spPr>
          <a:xfrm>
            <a:off x="7542475" y="2213800"/>
            <a:ext cx="887425" cy="7531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156" name="Google Shape;156;p15"/>
          <p:cNvSpPr/>
          <p:nvPr/>
        </p:nvSpPr>
        <p:spPr>
          <a:xfrm>
            <a:off x="7542475" y="3351200"/>
            <a:ext cx="887425" cy="7531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157" name="Google Shape;157;p15"/>
          <p:cNvCxnSpPr>
            <a:stCxn id="138" idx="3"/>
            <a:endCxn id="154" idx="2"/>
          </p:cNvCxnSpPr>
          <p:nvPr/>
        </p:nvCxnSpPr>
        <p:spPr>
          <a:xfrm flipH="1" rot="10800000">
            <a:off x="5334875" y="1599875"/>
            <a:ext cx="2207700" cy="618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5"/>
          <p:cNvCxnSpPr>
            <a:stCxn id="138" idx="3"/>
            <a:endCxn id="155" idx="2"/>
          </p:cNvCxnSpPr>
          <p:nvPr/>
        </p:nvCxnSpPr>
        <p:spPr>
          <a:xfrm>
            <a:off x="5334875" y="1661675"/>
            <a:ext cx="2207700" cy="9288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5"/>
          <p:cNvCxnSpPr>
            <a:endCxn id="155" idx="2"/>
          </p:cNvCxnSpPr>
          <p:nvPr/>
        </p:nvCxnSpPr>
        <p:spPr>
          <a:xfrm flipH="1" rot="10800000">
            <a:off x="5334775" y="2590362"/>
            <a:ext cx="2207700" cy="3342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5"/>
          <p:cNvCxnSpPr>
            <a:endCxn id="156" idx="2"/>
          </p:cNvCxnSpPr>
          <p:nvPr/>
        </p:nvCxnSpPr>
        <p:spPr>
          <a:xfrm flipH="1" rot="10800000">
            <a:off x="5334775" y="3727762"/>
            <a:ext cx="2207700" cy="4158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Implementing a modularized monolith</a:t>
            </a:r>
            <a:endParaRPr xmlns:a="http://schemas.openxmlformats.org/drawingml/2006/main"/>
          </a:p>
        </p:txBody>
      </p:sp>
      <p:sp>
        <p:nvSpPr>
          <p:cNvPr id="166" name="Google Shape;166;p1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7" name="Google Shape;167;p16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Spring Boot Application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Consists of a wide variety of @Components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Context &amp; Dependency Injection keeps all the components together consistently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YEE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Quarkus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From monolith to service-oriented application</a:t>
            </a:r>
            <a:endParaRPr xmlns:a="http://schemas.openxmlformats.org/drawingml/2006/main"/>
          </a:p>
        </p:txBody>
      </p:sp>
      <p:sp>
        <p:nvSpPr>
          <p:cNvPr id="173" name="Google Shape;173;p1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74" name="Google Shape;174;p17"/>
          <p:cNvSpPr txBox="1"/>
          <p:nvPr>
            <p:ph idx="1" type="body"/>
          </p:nvPr>
        </p:nvSpPr>
        <p:spPr>
          <a:xfrm>
            <a:off x="282975" y="903390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Introduction of </a:t>
            </a:r>
            <a:r xmlns:a="http://schemas.openxmlformats.org/drawingml/2006/main">
              <a:rPr lang="en">
                <a:highlight>
                  <a:srgbClr val="FF00FF"/>
                </a:highlight>
              </a:rPr>
              <a:t>multiprocessing </a:t>
            </a:r>
            <a:r xmlns:a="http://schemas.openxmlformats.org/drawingml/2006/main">
              <a:rPr lang="en"/>
              <a:t>and network communication</a:t>
            </a:r>
            <a:endParaRPr xmlns:a="http://schemas.openxmlformats.org/drawingml/2006/main"/>
          </a:p>
        </p:txBody>
      </p:sp>
      <p:sp>
        <p:nvSpPr>
          <p:cNvPr id="175" name="Google Shape;175;p17"/>
          <p:cNvSpPr/>
          <p:nvPr/>
        </p:nvSpPr>
        <p:spPr>
          <a:xfrm>
            <a:off x="134425" y="1923120"/>
            <a:ext cx="6222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176" name="Google Shape;176;p17"/>
          <p:cNvSpPr/>
          <p:nvPr/>
        </p:nvSpPr>
        <p:spPr>
          <a:xfrm>
            <a:off x="1815154" y="1858300"/>
            <a:ext cx="4236900" cy="73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cxnSp>
        <p:nvCxnSpPr>
          <p:cNvPr id="177" name="Google Shape;177;p17"/>
          <p:cNvCxnSpPr>
            <a:stCxn id="175" idx="3"/>
            <a:endCxn id="178" idx="1"/>
          </p:cNvCxnSpPr>
          <p:nvPr/>
        </p:nvCxnSpPr>
        <p:spPr>
          <a:xfrm>
            <a:off x="756625" y="2127870"/>
            <a:ext cx="550800" cy="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17"/>
          <p:cNvSpPr/>
          <p:nvPr/>
        </p:nvSpPr>
        <p:spPr>
          <a:xfrm>
            <a:off x="3402107" y="2131213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180" name="Google Shape;180;p17"/>
          <p:cNvSpPr/>
          <p:nvPr/>
        </p:nvSpPr>
        <p:spPr>
          <a:xfrm>
            <a:off x="1815351" y="2800050"/>
            <a:ext cx="4236900" cy="73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181" name="Google Shape;181;p17"/>
          <p:cNvSpPr/>
          <p:nvPr/>
        </p:nvSpPr>
        <p:spPr>
          <a:xfrm>
            <a:off x="3402043" y="3106659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178" name="Google Shape;178;p17"/>
          <p:cNvSpPr/>
          <p:nvPr/>
        </p:nvSpPr>
        <p:spPr>
          <a:xfrm>
            <a:off x="1307355" y="2106438"/>
            <a:ext cx="552600" cy="22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182" name="Google Shape;182;p17"/>
          <p:cNvCxnSpPr>
            <a:stCxn id="179" idx="1"/>
            <a:endCxn id="178" idx="3"/>
          </p:cNvCxnSpPr>
          <p:nvPr/>
        </p:nvCxnSpPr>
        <p:spPr>
          <a:xfrm rot="10800000">
            <a:off x="1859807" y="2219563"/>
            <a:ext cx="1542300" cy="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" name="Google Shape;183;p17"/>
          <p:cNvSpPr/>
          <p:nvPr/>
        </p:nvSpPr>
        <p:spPr>
          <a:xfrm>
            <a:off x="1272620" y="3067112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184" name="Google Shape;184;p17"/>
          <p:cNvCxnSpPr>
            <a:stCxn id="181" idx="1"/>
            <a:endCxn id="183" idx="3"/>
          </p:cNvCxnSpPr>
          <p:nvPr/>
        </p:nvCxnSpPr>
        <p:spPr>
          <a:xfrm rot="10800000">
            <a:off x="1894543" y="3180309"/>
            <a:ext cx="15075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17"/>
          <p:cNvCxnSpPr>
            <a:stCxn id="179" idx="2"/>
            <a:endCxn id="183" idx="1"/>
          </p:cNvCxnSpPr>
          <p:nvPr/>
        </p:nvCxnSpPr>
        <p:spPr>
          <a:xfrm flipH="1">
            <a:off x="1272707" y="2499313"/>
            <a:ext cx="2731800" cy="6810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17"/>
          <p:cNvSpPr/>
          <p:nvPr/>
        </p:nvSpPr>
        <p:spPr>
          <a:xfrm>
            <a:off x="1815229" y="3741800"/>
            <a:ext cx="4236900" cy="73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187" name="Google Shape;187;p17"/>
          <p:cNvSpPr/>
          <p:nvPr/>
        </p:nvSpPr>
        <p:spPr>
          <a:xfrm>
            <a:off x="3402043" y="4048407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188" name="Google Shape;188;p17"/>
          <p:cNvSpPr/>
          <p:nvPr/>
        </p:nvSpPr>
        <p:spPr>
          <a:xfrm>
            <a:off x="1604795" y="4045185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189" name="Google Shape;189;p17"/>
          <p:cNvCxnSpPr>
            <a:stCxn id="181" idx="2"/>
            <a:endCxn id="188" idx="1"/>
          </p:cNvCxnSpPr>
          <p:nvPr/>
        </p:nvCxnSpPr>
        <p:spPr>
          <a:xfrm flipH="1">
            <a:off x="1604743" y="3474759"/>
            <a:ext cx="2399700" cy="6834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17"/>
          <p:cNvCxnSpPr>
            <a:stCxn id="187" idx="1"/>
            <a:endCxn id="188" idx="3"/>
          </p:cNvCxnSpPr>
          <p:nvPr/>
        </p:nvCxnSpPr>
        <p:spPr>
          <a:xfrm rot="10800000">
            <a:off x="2226943" y="4158357"/>
            <a:ext cx="1175100" cy="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17"/>
          <p:cNvSpPr/>
          <p:nvPr/>
        </p:nvSpPr>
        <p:spPr>
          <a:xfrm>
            <a:off x="6499934" y="1976515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192" name="Google Shape;192;p17"/>
          <p:cNvSpPr/>
          <p:nvPr/>
        </p:nvSpPr>
        <p:spPr>
          <a:xfrm>
            <a:off x="6499934" y="2741685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193" name="Google Shape;193;p17"/>
          <p:cNvSpPr/>
          <p:nvPr/>
        </p:nvSpPr>
        <p:spPr>
          <a:xfrm>
            <a:off x="6499934" y="3620249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194" name="Google Shape;194;p17"/>
          <p:cNvCxnSpPr>
            <a:stCxn id="179" idx="3"/>
            <a:endCxn id="191" idx="2"/>
          </p:cNvCxnSpPr>
          <p:nvPr/>
        </p:nvCxnSpPr>
        <p:spPr>
          <a:xfrm flipH="1" rot="10800000">
            <a:off x="4606907" y="2267263"/>
            <a:ext cx="1893000" cy="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17"/>
          <p:cNvCxnSpPr>
            <a:stCxn id="179" idx="3"/>
            <a:endCxn id="192" idx="2"/>
          </p:cNvCxnSpPr>
          <p:nvPr/>
        </p:nvCxnSpPr>
        <p:spPr>
          <a:xfrm>
            <a:off x="4606907" y="2315263"/>
            <a:ext cx="1893000" cy="7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17"/>
          <p:cNvCxnSpPr>
            <a:endCxn id="192" idx="2"/>
          </p:cNvCxnSpPr>
          <p:nvPr/>
        </p:nvCxnSpPr>
        <p:spPr>
          <a:xfrm flipH="1" rot="10800000">
            <a:off x="4606634" y="3032554"/>
            <a:ext cx="1893300" cy="2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17"/>
          <p:cNvCxnSpPr>
            <a:endCxn id="193" idx="2"/>
          </p:cNvCxnSpPr>
          <p:nvPr/>
        </p:nvCxnSpPr>
        <p:spPr>
          <a:xfrm flipH="1" rot="10800000">
            <a:off x="4606634" y="3911117"/>
            <a:ext cx="1893300" cy="3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17"/>
          <p:cNvSpPr txBox="1"/>
          <p:nvPr/>
        </p:nvSpPr>
        <p:spPr>
          <a:xfrm>
            <a:off x="7700100" y="1561875"/>
            <a:ext cx="1284300" cy="6156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Calls via network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 in detail</a:t>
            </a:r>
            <a:endParaRPr xmlns:a="http://schemas.openxmlformats.org/drawingml/2006/main"/>
          </a:p>
        </p:txBody>
      </p:sp>
      <p:sp>
        <p:nvSpPr>
          <p:cNvPr id="204" name="Google Shape;204;p18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300"/>
              <a:t>‹#›</a:t>
            </a:fld>
            <a:endParaRPr sz="1300"/>
          </a:p>
        </p:txBody>
      </p:sp>
      <p:sp>
        <p:nvSpPr>
          <p:cNvPr id="205" name="Google Shape;205;p18"/>
          <p:cNvSpPr/>
          <p:nvPr/>
        </p:nvSpPr>
        <p:spPr>
          <a:xfrm>
            <a:off x="1616650" y="1153125"/>
            <a:ext cx="3864900" cy="120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206" name="Google Shape;206;p18"/>
          <p:cNvSpPr/>
          <p:nvPr/>
        </p:nvSpPr>
        <p:spPr>
          <a:xfrm>
            <a:off x="1295550" y="1736950"/>
            <a:ext cx="840600" cy="4437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sp>
        <p:nvSpPr>
          <p:cNvPr id="207" name="Google Shape;207;p18"/>
          <p:cNvSpPr txBox="1"/>
          <p:nvPr/>
        </p:nvSpPr>
        <p:spPr>
          <a:xfrm>
            <a:off x="69525" y="3303900"/>
            <a:ext cx="2971800" cy="8313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Abstract Programming Interface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Operations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Scheme</a:t>
            </a:r>
            <a:endParaRPr xmlns:a="http://schemas.openxmlformats.org/drawingml/2006/main"/>
          </a:p>
        </p:txBody>
      </p:sp>
      <p:sp>
        <p:nvSpPr>
          <p:cNvPr id="208" name="Google Shape;208;p18"/>
          <p:cNvSpPr/>
          <p:nvPr/>
        </p:nvSpPr>
        <p:spPr>
          <a:xfrm>
            <a:off x="63675" y="1760325"/>
            <a:ext cx="642300" cy="44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cxnSp>
        <p:nvCxnSpPr>
          <p:cNvPr id="209" name="Google Shape;209;p18"/>
          <p:cNvCxnSpPr>
            <a:stCxn id="208" idx="3"/>
            <a:endCxn id="206" idx="1"/>
          </p:cNvCxnSpPr>
          <p:nvPr/>
        </p:nvCxnSpPr>
        <p:spPr>
          <a:xfrm flipH="1" rot="10800000">
            <a:off x="705975" y="1958775"/>
            <a:ext cx="589500" cy="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18"/>
          <p:cNvSpPr/>
          <p:nvPr/>
        </p:nvSpPr>
        <p:spPr>
          <a:xfrm>
            <a:off x="2889375" y="1456725"/>
            <a:ext cx="1249500" cy="701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211" name="Google Shape;211;p18"/>
          <p:cNvCxnSpPr>
            <a:stCxn id="210" idx="1"/>
            <a:endCxn id="206" idx="3"/>
          </p:cNvCxnSpPr>
          <p:nvPr/>
        </p:nvCxnSpPr>
        <p:spPr>
          <a:xfrm flipH="1">
            <a:off x="2136075" y="1807425"/>
            <a:ext cx="753300" cy="15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p18"/>
          <p:cNvSpPr txBox="1"/>
          <p:nvPr/>
        </p:nvSpPr>
        <p:spPr>
          <a:xfrm>
            <a:off x="3589975" y="3307450"/>
            <a:ext cx="2422200" cy="831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Implementation of the necessary algorithms executable in an environment</a:t>
            </a:r>
            <a:endParaRPr xmlns:a="http://schemas.openxmlformats.org/drawingml/2006/main"/>
          </a:p>
        </p:txBody>
      </p:sp>
      <p:sp>
        <p:nvSpPr>
          <p:cNvPr id="213" name="Google Shape;213;p18"/>
          <p:cNvSpPr/>
          <p:nvPr/>
        </p:nvSpPr>
        <p:spPr>
          <a:xfrm>
            <a:off x="5002825" y="1509275"/>
            <a:ext cx="2090100" cy="648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Dependencies on resources</a:t>
            </a:r>
            <a:endParaRPr xmlns:a="http://schemas.openxmlformats.org/drawingml/2006/main"/>
          </a:p>
        </p:txBody>
      </p:sp>
      <p:cxnSp>
        <p:nvCxnSpPr>
          <p:cNvPr id="214" name="Google Shape;214;p18"/>
          <p:cNvCxnSpPr>
            <a:stCxn id="210" idx="3"/>
            <a:endCxn id="213" idx="1"/>
          </p:cNvCxnSpPr>
          <p:nvPr/>
        </p:nvCxnSpPr>
        <p:spPr>
          <a:xfrm>
            <a:off x="4138875" y="1807425"/>
            <a:ext cx="864000" cy="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18"/>
          <p:cNvSpPr txBox="1"/>
          <p:nvPr/>
        </p:nvSpPr>
        <p:spPr>
          <a:xfrm>
            <a:off x="6590850" y="3295775"/>
            <a:ext cx="2119200" cy="615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List of “things” on which the impl depends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 txBox="1"/>
          <p:nvPr>
            <p:ph type="title"/>
          </p:nvPr>
        </p:nvSpPr>
        <p:spPr>
          <a:xfrm>
            <a:off x="323854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 documentation</a:t>
            </a:r>
            <a:endParaRPr xmlns:a="http://schemas.openxmlformats.org/drawingml/2006/main"/>
          </a:p>
        </p:txBody>
      </p:sp>
      <p:sp>
        <p:nvSpPr>
          <p:cNvPr id="221" name="Google Shape;221;p19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22" name="Google Shape;222;p19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 sz="1800"/>
              <a:t>API documentation</a:t>
            </a:r>
            <a:endParaRPr xmlns:a="http://schemas.openxmlformats.org/drawingml/2006/main" sz="1800"/>
          </a:p>
          <a:p>
            <a:pPr xmlns:a="http://schemas.openxmlformats.org/drawingml/2006/main"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 sz="1600"/>
              <a:t>Very easy to formalize, no need for prose text, no “description”</a:t>
            </a:r>
            <a:endParaRPr xmlns:a="http://schemas.openxmlformats.org/drawingml/2006/main" sz="1600"/>
          </a:p>
          <a:p>
            <a:pPr xmlns:a="http://schemas.openxmlformats.org/drawingml/2006/main"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 sz="1400"/>
              <a:t>&lt;operation name=”create”&gt;&lt;params type=book&gt;....&lt;/operations&gt;</a:t>
            </a:r>
            <a:endParaRPr xmlns:a="http://schemas.openxmlformats.org/drawingml/2006/main" sz="1400"/>
          </a:p>
          <a:p>
            <a:pPr xmlns:a="http://schemas.openxmlformats.org/drawingml/2006/main"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 sz="1400"/>
              <a:t>&lt;description&gt;The created book is stored in the XYZ database in the BOOKS table&lt;/description&gt;</a:t>
            </a:r>
            <a:endParaRPr xmlns:a="http://schemas.openxmlformats.org/drawingml/2006/main" sz="1400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 sz="1800"/>
              <a:t>Implementation documentation</a:t>
            </a:r>
            <a:endParaRPr xmlns:a="http://schemas.openxmlformats.org/drawingml/2006/main" sz="1800"/>
          </a:p>
          <a:p>
            <a:pPr xmlns:a="http://schemas.openxmlformats.org/drawingml/2006/main"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 sz="1600"/>
              <a:t>Specification of the algorithms</a:t>
            </a:r>
            <a:endParaRPr xmlns:a="http://schemas.openxmlformats.org/drawingml/2006/main" sz="1600"/>
          </a:p>
          <a:p>
            <a:pPr xmlns:a="http://schemas.openxmlformats.org/drawingml/2006/main"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 sz="1400"/>
              <a:t>e.g. UML, class and sequence diagrams</a:t>
            </a:r>
            <a:endParaRPr xmlns:a="http://schemas.openxmlformats.org/drawingml/2006/main" sz="1400"/>
          </a:p>
          <a:p>
            <a:pPr xmlns:a="http://schemas.openxmlformats.org/drawingml/2006/main"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 sz="1400"/>
              <a:t>e.g. classic specification in prose text according to ISO…</a:t>
            </a:r>
            <a:endParaRPr xmlns:a="http://schemas.openxmlformats.org/drawingml/2006/main" sz="1400"/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 sz="1400"/>
              <a:t>Runtime</a:t>
            </a:r>
            <a:endParaRPr xmlns:a="http://schemas.openxmlformats.org/drawingml/2006/main" sz="1400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 sz="1800"/>
              <a:t>Dependencies</a:t>
            </a:r>
            <a:endParaRPr xmlns:a="http://schemas.openxmlformats.org/drawingml/2006/main" sz="1800"/>
          </a:p>
          <a:p>
            <a:pPr xmlns:a="http://schemas.openxmlformats.org/drawingml/2006/main"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 sz="1600"/>
              <a:t>API coordinates of another service or resource in particular database</a:t>
            </a:r>
            <a:endParaRPr xmlns:a="http://schemas.openxmlformats.org/drawingml/2006/main" sz="1600"/>
          </a:p>
          <a:p>
            <a:pPr xmlns:a="http://schemas.openxmlformats.org/drawingml/2006/main"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 sz="1400"/>
              <a:t>Endpoint address (e.g. host)</a:t>
            </a:r>
            <a:endParaRPr xmlns:a="http://schemas.openxmlformats.org/drawingml/2006/main" sz="1400"/>
          </a:p>
          <a:p>
            <a:pPr xmlns:a="http://schemas.openxmlformats.org/drawingml/2006/main"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 sz="1400"/>
              <a:t>Name of the service as URL (api/books)</a:t>
            </a:r>
            <a:endParaRPr xmlns:a="http://schemas.openxmlformats.org/drawingml/2006/main" sz="1400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 sz="1400"/>
              <a:t>Version </a:t>
            </a:r>
            <a:r xmlns:a="http://schemas.openxmlformats.org/drawingml/2006/main">
              <a:rPr lang="en" sz="1400" strike="sngStrike"/>
              <a:t>number </a:t>
            </a:r>
            <a:r xmlns:a="http://schemas.openxmlformats.org/drawingml/2006/main">
              <a:rPr lang="en" sz="1400"/>
              <a:t>hints according to Major.Minor. </a:t>
            </a:r>
            <a:r xmlns:a="http://schemas.openxmlformats.org/drawingml/2006/main">
              <a:rPr lang="en" sz="1400" strike="sngStrike"/>
              <a:t>Patch </a:t>
            </a:r>
            <a:r xmlns:a="http://schemas.openxmlformats.org/drawingml/2006/main">
              <a:rPr lang="en" sz="600" strike="sngStrike"/>
              <a:t>.Qualifier</a:t>
            </a:r>
            <a:endParaRPr xmlns:a="http://schemas.openxmlformats.org/drawingml/2006/main" sz="600" strike="sngStrike"/>
          </a:p>
        </p:txBody>
      </p:sp>
      <p:sp>
        <p:nvSpPr>
          <p:cNvPr id="223" name="Google Shape;223;p19"/>
          <p:cNvSpPr/>
          <p:nvPr/>
        </p:nvSpPr>
        <p:spPr>
          <a:xfrm>
            <a:off x="4057050" y="1906277"/>
            <a:ext cx="321084" cy="421146"/>
          </a:xfrm>
          <a:prstGeom prst="lightningBol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Who needs to know/maintain which documentation?</a:t>
            </a:r>
            <a:endParaRPr xmlns:a="http://schemas.openxmlformats.org/drawingml/2006/main"/>
          </a:p>
        </p:txBody>
      </p:sp>
      <p:sp>
        <p:nvSpPr>
          <p:cNvPr id="229" name="Google Shape;229;p2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30" name="Google Shape;230;p20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Knowledge of the implementation details is necessary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for the team that implements the service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Earlier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Runtime had to be provided by the company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Today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Runtime is translated by the DevOps process into an image that is operated by operations as a container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Every actor must know the API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The actor knows the service via its coordinates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The dependencies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-&gt; Page 17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Excursus: Dependencies</a:t>
            </a:r>
            <a:endParaRPr xmlns:a="http://schemas.openxmlformats.org/drawingml/2006/main"/>
          </a:p>
        </p:txBody>
      </p:sp>
      <p:sp>
        <p:nvSpPr>
          <p:cNvPr id="237" name="Google Shape;237;p21"/>
          <p:cNvSpPr/>
          <p:nvPr/>
        </p:nvSpPr>
        <p:spPr>
          <a:xfrm>
            <a:off x="4273050" y="1007175"/>
            <a:ext cx="3981600" cy="144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Registry for API documentation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Key: Service coordinate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Value: API document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Optional: tagging + search</a:t>
            </a:r>
            <a:endParaRPr xmlns:a="http://schemas.openxmlformats.org/drawingml/2006/main"/>
          </a:p>
        </p:txBody>
      </p:sp>
      <p:sp>
        <p:nvSpPr>
          <p:cNvPr id="238" name="Google Shape;238;p21"/>
          <p:cNvSpPr/>
          <p:nvPr/>
        </p:nvSpPr>
        <p:spPr>
          <a:xfrm>
            <a:off x="63675" y="1141450"/>
            <a:ext cx="2586300" cy="180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 Consumer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e.g. Dependency List as part of the build process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e.g. Kubernetes services in the cloud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Dependencies</a:t>
            </a:r>
            <a:endParaRPr xmlns:a="http://schemas.openxmlformats.org/drawingml/2006/main"/>
          </a:p>
        </p:txBody>
      </p:sp>
      <p:sp>
        <p:nvSpPr>
          <p:cNvPr id="244" name="Google Shape;244;p2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45" name="Google Shape;245;p22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Are problematic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The problem is solved through communication and specification “Which versions of which services are available?”, “Which applications use which other services”</a:t>
            </a:r>
            <a:endParaRPr xmlns:a="http://schemas.openxmlformats.org/drawingml/2006/main"/>
          </a:p>
        </p:txBody>
      </p:sp>
      <p:sp>
        <p:nvSpPr>
          <p:cNvPr id="246" name="Google Shape;246;p22"/>
          <p:cNvSpPr/>
          <p:nvPr/>
        </p:nvSpPr>
        <p:spPr>
          <a:xfrm>
            <a:off x="2428175" y="1410025"/>
            <a:ext cx="1617300" cy="47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247" name="Google Shape;247;p22"/>
          <p:cNvSpPr/>
          <p:nvPr/>
        </p:nvSpPr>
        <p:spPr>
          <a:xfrm>
            <a:off x="6564775" y="1882825"/>
            <a:ext cx="1436225" cy="9633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Database</a:t>
            </a:r>
            <a:endParaRPr xmlns:a="http://schemas.openxmlformats.org/drawingml/2006/main"/>
          </a:p>
        </p:txBody>
      </p:sp>
      <p:cxnSp>
        <p:nvCxnSpPr>
          <p:cNvPr id="248" name="Google Shape;248;p22"/>
          <p:cNvCxnSpPr>
            <a:stCxn id="246" idx="3"/>
            <a:endCxn id="247" idx="2"/>
          </p:cNvCxnSpPr>
          <p:nvPr/>
        </p:nvCxnSpPr>
        <p:spPr>
          <a:xfrm>
            <a:off x="4045475" y="1646425"/>
            <a:ext cx="2519400" cy="7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9" name="Google Shape;249;p22"/>
          <p:cNvSpPr/>
          <p:nvPr/>
        </p:nvSpPr>
        <p:spPr>
          <a:xfrm>
            <a:off x="3700900" y="1532625"/>
            <a:ext cx="543000" cy="23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dep</a:t>
            </a:r>
            <a:endParaRPr xmlns:a="http://schemas.openxmlformats.org/drawingml/2006/main"/>
          </a:p>
        </p:txBody>
      </p:sp>
      <p:sp>
        <p:nvSpPr>
          <p:cNvPr id="250" name="Google Shape;250;p22"/>
          <p:cNvSpPr/>
          <p:nvPr/>
        </p:nvSpPr>
        <p:spPr>
          <a:xfrm>
            <a:off x="408125" y="1733988"/>
            <a:ext cx="1249500" cy="35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251" name="Google Shape;251;p22"/>
          <p:cNvSpPr/>
          <p:nvPr/>
        </p:nvSpPr>
        <p:spPr>
          <a:xfrm>
            <a:off x="2200475" y="1567650"/>
            <a:ext cx="286200" cy="1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500"/>
              <a:t>API</a:t>
            </a:r>
            <a:endParaRPr xmlns:a="http://schemas.openxmlformats.org/drawingml/2006/main" sz="500"/>
          </a:p>
        </p:txBody>
      </p:sp>
      <p:cxnSp>
        <p:nvCxnSpPr>
          <p:cNvPr id="252" name="Google Shape;252;p22"/>
          <p:cNvCxnSpPr>
            <a:stCxn id="250" idx="3"/>
            <a:endCxn id="251" idx="1"/>
          </p:cNvCxnSpPr>
          <p:nvPr/>
        </p:nvCxnSpPr>
        <p:spPr>
          <a:xfrm flipH="1" rot="10800000">
            <a:off x="1657625" y="1649388"/>
            <a:ext cx="543000" cy="25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22"/>
          <p:cNvCxnSpPr>
            <a:endCxn id="247" idx="2"/>
          </p:cNvCxnSpPr>
          <p:nvPr/>
        </p:nvCxnSpPr>
        <p:spPr>
          <a:xfrm>
            <a:off x="1657675" y="1909088"/>
            <a:ext cx="4907100" cy="45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p22"/>
          <p:cNvSpPr txBox="1"/>
          <p:nvPr/>
        </p:nvSpPr>
        <p:spPr>
          <a:xfrm>
            <a:off x="4383975" y="1316600"/>
            <a:ext cx="81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55" name="Google Shape;255;p22"/>
          <p:cNvSpPr txBox="1"/>
          <p:nvPr/>
        </p:nvSpPr>
        <p:spPr>
          <a:xfrm>
            <a:off x="4757625" y="1427525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books schema:3.5</a:t>
            </a:r>
            <a:endParaRPr xmlns:a="http://schemas.openxmlformats.org/drawingml/2006/main"/>
          </a:p>
        </p:txBody>
      </p:sp>
      <p:sp>
        <p:nvSpPr>
          <p:cNvPr id="256" name="Google Shape;256;p22"/>
          <p:cNvSpPr txBox="1"/>
          <p:nvPr/>
        </p:nvSpPr>
        <p:spPr>
          <a:xfrm>
            <a:off x="3462225" y="2265725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books schema:2.1</a:t>
            </a:r>
            <a:endParaRPr xmlns:a="http://schemas.openxmlformats.org/drawingml/2006/main"/>
          </a:p>
        </p:txBody>
      </p:sp>
      <p:sp>
        <p:nvSpPr>
          <p:cNvPr id="257" name="Google Shape;257;p22"/>
          <p:cNvSpPr txBox="1"/>
          <p:nvPr/>
        </p:nvSpPr>
        <p:spPr>
          <a:xfrm>
            <a:off x="1721725" y="2767900"/>
            <a:ext cx="426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Problem: “Transitive dependencies” can lead to inconsistencies in the overall application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thesis</a:t>
            </a:r>
            <a:endParaRPr xmlns:a="http://schemas.openxmlformats.org/drawingml/2006/main"/>
          </a:p>
        </p:txBody>
      </p:sp>
      <p:sp>
        <p:nvSpPr>
          <p:cNvPr id="263" name="Google Shape;263;p2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64" name="Google Shape;264;p23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As soon as service dependencies appear, there is a great risk that the overall application will ultimately remain monolithic despite services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70" name="Google Shape;270;p2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71" name="Google Shape;271;p24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Solving the dependency problem</a:t>
            </a:r>
            <a:endParaRPr xmlns:a="http://schemas.openxmlformats.org/drawingml/2006/main"/>
          </a:p>
        </p:txBody>
      </p:sp>
      <p:sp>
        <p:nvSpPr>
          <p:cNvPr id="277" name="Google Shape;277;p25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78" name="Google Shape;278;p25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Microservices have no dependencies.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Actors are not microservices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The size of a microservice doesn't matter at all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Microservices can be deployed (almost) without regard to anything else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Release planning is independent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Fast: Actors have to be taken into account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Direct interaction between microservices is not planned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A notice: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The following images and arguments will make you say “That’s not possible”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A real landscape of enterprise applications will always be a mix of services (with dependencies) and microservices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From services to microservices</a:t>
            </a:r>
            <a:endParaRPr xmlns:a="http://schemas.openxmlformats.org/drawingml/2006/main"/>
          </a:p>
        </p:txBody>
      </p:sp>
      <p:sp>
        <p:nvSpPr>
          <p:cNvPr id="284" name="Google Shape;284;p2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134425" y="856320"/>
            <a:ext cx="6222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286" name="Google Shape;286;p26"/>
          <p:cNvSpPr/>
          <p:nvPr/>
        </p:nvSpPr>
        <p:spPr>
          <a:xfrm>
            <a:off x="1815149" y="791500"/>
            <a:ext cx="5604600" cy="157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Microservice1</a:t>
            </a:r>
            <a:endParaRPr xmlns:a="http://schemas.openxmlformats.org/drawingml/2006/main"/>
          </a:p>
        </p:txBody>
      </p:sp>
      <p:cxnSp>
        <p:nvCxnSpPr>
          <p:cNvPr id="287" name="Google Shape;287;p26"/>
          <p:cNvCxnSpPr>
            <a:stCxn id="285" idx="3"/>
            <a:endCxn id="288" idx="1"/>
          </p:cNvCxnSpPr>
          <p:nvPr/>
        </p:nvCxnSpPr>
        <p:spPr>
          <a:xfrm>
            <a:off x="756625" y="1061070"/>
            <a:ext cx="550800" cy="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" name="Google Shape;289;p26"/>
          <p:cNvSpPr/>
          <p:nvPr/>
        </p:nvSpPr>
        <p:spPr>
          <a:xfrm>
            <a:off x="3402107" y="1064413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290" name="Google Shape;290;p26"/>
          <p:cNvSpPr/>
          <p:nvPr/>
        </p:nvSpPr>
        <p:spPr>
          <a:xfrm>
            <a:off x="1815350" y="2543950"/>
            <a:ext cx="5552100" cy="99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Microservice2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91" name="Google Shape;291;p26"/>
          <p:cNvSpPr/>
          <p:nvPr/>
        </p:nvSpPr>
        <p:spPr>
          <a:xfrm>
            <a:off x="3402043" y="3106659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288" name="Google Shape;288;p26"/>
          <p:cNvSpPr/>
          <p:nvPr/>
        </p:nvSpPr>
        <p:spPr>
          <a:xfrm>
            <a:off x="1307355" y="1039638"/>
            <a:ext cx="552600" cy="22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292" name="Google Shape;292;p26"/>
          <p:cNvCxnSpPr>
            <a:stCxn id="289" idx="1"/>
            <a:endCxn id="288" idx="3"/>
          </p:cNvCxnSpPr>
          <p:nvPr/>
        </p:nvCxnSpPr>
        <p:spPr>
          <a:xfrm rot="10800000">
            <a:off x="1859807" y="1152763"/>
            <a:ext cx="1542300" cy="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" name="Google Shape;293;p26"/>
          <p:cNvSpPr/>
          <p:nvPr/>
        </p:nvSpPr>
        <p:spPr>
          <a:xfrm>
            <a:off x="1272620" y="3067112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294" name="Google Shape;294;p26"/>
          <p:cNvCxnSpPr>
            <a:stCxn id="291" idx="1"/>
            <a:endCxn id="293" idx="3"/>
          </p:cNvCxnSpPr>
          <p:nvPr/>
        </p:nvCxnSpPr>
        <p:spPr>
          <a:xfrm rot="10800000">
            <a:off x="1894543" y="3180309"/>
            <a:ext cx="15075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" name="Google Shape;295;p26"/>
          <p:cNvSpPr/>
          <p:nvPr/>
        </p:nvSpPr>
        <p:spPr>
          <a:xfrm>
            <a:off x="1815224" y="3675250"/>
            <a:ext cx="5657100" cy="80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Microservice3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96" name="Google Shape;296;p26"/>
          <p:cNvSpPr/>
          <p:nvPr/>
        </p:nvSpPr>
        <p:spPr>
          <a:xfrm>
            <a:off x="3402043" y="4048407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297" name="Google Shape;297;p26"/>
          <p:cNvSpPr/>
          <p:nvPr/>
        </p:nvSpPr>
        <p:spPr>
          <a:xfrm>
            <a:off x="1452395" y="4045185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298" name="Google Shape;298;p26"/>
          <p:cNvCxnSpPr>
            <a:stCxn id="296" idx="1"/>
            <a:endCxn id="297" idx="3"/>
          </p:cNvCxnSpPr>
          <p:nvPr/>
        </p:nvCxnSpPr>
        <p:spPr>
          <a:xfrm rot="10800000">
            <a:off x="2074543" y="4158357"/>
            <a:ext cx="1327500" cy="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26"/>
          <p:cNvSpPr/>
          <p:nvPr/>
        </p:nvSpPr>
        <p:spPr>
          <a:xfrm>
            <a:off x="6499934" y="909715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00" name="Google Shape;300;p26"/>
          <p:cNvSpPr/>
          <p:nvPr/>
        </p:nvSpPr>
        <p:spPr>
          <a:xfrm>
            <a:off x="6499934" y="16748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01" name="Google Shape;301;p26"/>
          <p:cNvSpPr/>
          <p:nvPr/>
        </p:nvSpPr>
        <p:spPr>
          <a:xfrm>
            <a:off x="6453209" y="3819036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302" name="Google Shape;302;p26"/>
          <p:cNvCxnSpPr>
            <a:stCxn id="289" idx="3"/>
            <a:endCxn id="299" idx="2"/>
          </p:cNvCxnSpPr>
          <p:nvPr/>
        </p:nvCxnSpPr>
        <p:spPr>
          <a:xfrm flipH="1" rot="10800000">
            <a:off x="4606907" y="1200463"/>
            <a:ext cx="1893000" cy="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26"/>
          <p:cNvCxnSpPr>
            <a:stCxn id="289" idx="3"/>
            <a:endCxn id="300" idx="2"/>
          </p:cNvCxnSpPr>
          <p:nvPr/>
        </p:nvCxnSpPr>
        <p:spPr>
          <a:xfrm>
            <a:off x="4606907" y="1248463"/>
            <a:ext cx="1893000" cy="7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26"/>
          <p:cNvCxnSpPr>
            <a:stCxn id="296" idx="3"/>
            <a:endCxn id="301" idx="2"/>
          </p:cNvCxnSpPr>
          <p:nvPr/>
        </p:nvCxnSpPr>
        <p:spPr>
          <a:xfrm flipH="1" rot="10800000">
            <a:off x="4606843" y="4109757"/>
            <a:ext cx="1846500" cy="1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26"/>
          <p:cNvCxnSpPr>
            <a:endCxn id="300" idx="2"/>
          </p:cNvCxnSpPr>
          <p:nvPr/>
        </p:nvCxnSpPr>
        <p:spPr>
          <a:xfrm flipH="1" rot="10800000">
            <a:off x="4606934" y="1965754"/>
            <a:ext cx="1893000" cy="132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" name="Google Shape;306;p26"/>
          <p:cNvSpPr/>
          <p:nvPr/>
        </p:nvSpPr>
        <p:spPr>
          <a:xfrm>
            <a:off x="5411500" y="2163150"/>
            <a:ext cx="490428" cy="764802"/>
          </a:xfrm>
          <a:prstGeom prst="lightningBol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07" name="Google Shape;307;p26"/>
          <p:cNvSpPr/>
          <p:nvPr/>
        </p:nvSpPr>
        <p:spPr>
          <a:xfrm>
            <a:off x="6499934" y="27416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308" name="Google Shape;308;p26"/>
          <p:cNvCxnSpPr>
            <a:stCxn id="291" idx="3"/>
            <a:endCxn id="307" idx="2"/>
          </p:cNvCxnSpPr>
          <p:nvPr/>
        </p:nvCxnSpPr>
        <p:spPr>
          <a:xfrm flipH="1" rot="10800000">
            <a:off x="4606843" y="3032409"/>
            <a:ext cx="1893000" cy="25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" name="Google Shape;309;p26"/>
          <p:cNvSpPr txBox="1"/>
          <p:nvPr/>
        </p:nvSpPr>
        <p:spPr>
          <a:xfrm>
            <a:off x="7727200" y="2215700"/>
            <a:ext cx="1327500" cy="15699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000"/>
              <a:t>Unavoidable redundant data storage</a:t>
            </a:r>
            <a:endParaRPr xmlns:a="http://schemas.openxmlformats.org/drawingml/2006/main" sz="1000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 sz="1000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000"/>
              <a:t>Note: Synchronization of the data sets is not apparent from this image</a:t>
            </a:r>
            <a:endParaRPr xmlns:a="http://schemas.openxmlformats.org/drawingml/2006/main" sz="1000"/>
          </a:p>
        </p:txBody>
      </p:sp>
      <p:sp>
        <p:nvSpPr>
          <p:cNvPr id="310" name="Google Shape;310;p26"/>
          <p:cNvSpPr/>
          <p:nvPr/>
        </p:nvSpPr>
        <p:spPr>
          <a:xfrm>
            <a:off x="58225" y="2913725"/>
            <a:ext cx="7611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Actor2</a:t>
            </a:r>
            <a:endParaRPr xmlns:a="http://schemas.openxmlformats.org/drawingml/2006/main"/>
          </a:p>
        </p:txBody>
      </p:sp>
      <p:cxnSp>
        <p:nvCxnSpPr>
          <p:cNvPr id="311" name="Google Shape;311;p26"/>
          <p:cNvCxnSpPr>
            <a:stCxn id="310" idx="3"/>
            <a:endCxn id="293" idx="1"/>
          </p:cNvCxnSpPr>
          <p:nvPr/>
        </p:nvCxnSpPr>
        <p:spPr>
          <a:xfrm>
            <a:off x="819325" y="3118475"/>
            <a:ext cx="453300" cy="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26"/>
          <p:cNvCxnSpPr/>
          <p:nvPr/>
        </p:nvCxnSpPr>
        <p:spPr>
          <a:xfrm>
            <a:off x="971725" y="4109075"/>
            <a:ext cx="453300" cy="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3" name="Google Shape;313;p26"/>
          <p:cNvSpPr/>
          <p:nvPr/>
        </p:nvSpPr>
        <p:spPr>
          <a:xfrm>
            <a:off x="210625" y="3904325"/>
            <a:ext cx="7611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Actor3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Doesn't always work straight away!</a:t>
            </a:r>
            <a:endParaRPr xmlns:a="http://schemas.openxmlformats.org/drawingml/2006/main"/>
          </a:p>
        </p:txBody>
      </p:sp>
      <p:sp>
        <p:nvSpPr>
          <p:cNvPr id="319" name="Google Shape;319;p2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20" name="Google Shape;320;p2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Actor as Microservice Orchestrator, page 23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From services to microservices</a:t>
            </a:r>
            <a:endParaRPr xmlns:a="http://schemas.openxmlformats.org/drawingml/2006/main"/>
          </a:p>
        </p:txBody>
      </p:sp>
      <p:sp>
        <p:nvSpPr>
          <p:cNvPr id="326" name="Google Shape;326;p28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27" name="Google Shape;327;p28"/>
          <p:cNvSpPr/>
          <p:nvPr/>
        </p:nvSpPr>
        <p:spPr>
          <a:xfrm>
            <a:off x="204500" y="2286845"/>
            <a:ext cx="6222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328" name="Google Shape;328;p28"/>
          <p:cNvSpPr/>
          <p:nvPr/>
        </p:nvSpPr>
        <p:spPr>
          <a:xfrm>
            <a:off x="3339149" y="943900"/>
            <a:ext cx="5604600" cy="157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Microservice1</a:t>
            </a:r>
            <a:endParaRPr xmlns:a="http://schemas.openxmlformats.org/drawingml/2006/main"/>
          </a:p>
        </p:txBody>
      </p:sp>
      <p:cxnSp>
        <p:nvCxnSpPr>
          <p:cNvPr id="329" name="Google Shape;329;p28"/>
          <p:cNvCxnSpPr>
            <a:stCxn id="327" idx="3"/>
            <a:endCxn id="330" idx="1"/>
          </p:cNvCxnSpPr>
          <p:nvPr/>
        </p:nvCxnSpPr>
        <p:spPr>
          <a:xfrm flipH="1" rot="10800000">
            <a:off x="826700" y="1305095"/>
            <a:ext cx="2004600" cy="118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" name="Google Shape;331;p28"/>
          <p:cNvSpPr/>
          <p:nvPr/>
        </p:nvSpPr>
        <p:spPr>
          <a:xfrm>
            <a:off x="4926107" y="1216813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332" name="Google Shape;332;p28"/>
          <p:cNvSpPr/>
          <p:nvPr/>
        </p:nvSpPr>
        <p:spPr>
          <a:xfrm>
            <a:off x="3339350" y="2696350"/>
            <a:ext cx="5552100" cy="99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Microservice2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33" name="Google Shape;333;p28"/>
          <p:cNvSpPr/>
          <p:nvPr/>
        </p:nvSpPr>
        <p:spPr>
          <a:xfrm>
            <a:off x="4926043" y="3259059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330" name="Google Shape;330;p28"/>
          <p:cNvSpPr/>
          <p:nvPr/>
        </p:nvSpPr>
        <p:spPr>
          <a:xfrm>
            <a:off x="2831355" y="1192038"/>
            <a:ext cx="552600" cy="22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334" name="Google Shape;334;p28"/>
          <p:cNvCxnSpPr>
            <a:stCxn id="331" idx="1"/>
            <a:endCxn id="330" idx="3"/>
          </p:cNvCxnSpPr>
          <p:nvPr/>
        </p:nvCxnSpPr>
        <p:spPr>
          <a:xfrm rot="10800000">
            <a:off x="3383807" y="1305163"/>
            <a:ext cx="1542300" cy="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" name="Google Shape;335;p28"/>
          <p:cNvSpPr/>
          <p:nvPr/>
        </p:nvSpPr>
        <p:spPr>
          <a:xfrm>
            <a:off x="2796620" y="3219512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336" name="Google Shape;336;p28"/>
          <p:cNvCxnSpPr>
            <a:stCxn id="333" idx="1"/>
            <a:endCxn id="335" idx="3"/>
          </p:cNvCxnSpPr>
          <p:nvPr/>
        </p:nvCxnSpPr>
        <p:spPr>
          <a:xfrm rot="10800000">
            <a:off x="3418543" y="3332709"/>
            <a:ext cx="15075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7" name="Google Shape;337;p28"/>
          <p:cNvSpPr/>
          <p:nvPr/>
        </p:nvSpPr>
        <p:spPr>
          <a:xfrm>
            <a:off x="3339224" y="3827650"/>
            <a:ext cx="5657100" cy="80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Microservice3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38" name="Google Shape;338;p28"/>
          <p:cNvSpPr/>
          <p:nvPr/>
        </p:nvSpPr>
        <p:spPr>
          <a:xfrm>
            <a:off x="4926043" y="4200807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339" name="Google Shape;339;p28"/>
          <p:cNvSpPr/>
          <p:nvPr/>
        </p:nvSpPr>
        <p:spPr>
          <a:xfrm>
            <a:off x="2976395" y="4197585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340" name="Google Shape;340;p28"/>
          <p:cNvCxnSpPr>
            <a:stCxn id="338" idx="1"/>
            <a:endCxn id="339" idx="3"/>
          </p:cNvCxnSpPr>
          <p:nvPr/>
        </p:nvCxnSpPr>
        <p:spPr>
          <a:xfrm rot="10800000">
            <a:off x="3598543" y="4310757"/>
            <a:ext cx="1327500" cy="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" name="Google Shape;341;p28"/>
          <p:cNvSpPr/>
          <p:nvPr/>
        </p:nvSpPr>
        <p:spPr>
          <a:xfrm>
            <a:off x="8023934" y="1062115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42" name="Google Shape;342;p28"/>
          <p:cNvSpPr/>
          <p:nvPr/>
        </p:nvSpPr>
        <p:spPr>
          <a:xfrm>
            <a:off x="8023934" y="18272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43" name="Google Shape;343;p28"/>
          <p:cNvSpPr/>
          <p:nvPr/>
        </p:nvSpPr>
        <p:spPr>
          <a:xfrm>
            <a:off x="7977209" y="3971436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344" name="Google Shape;344;p28"/>
          <p:cNvCxnSpPr>
            <a:stCxn id="331" idx="3"/>
            <a:endCxn id="341" idx="2"/>
          </p:cNvCxnSpPr>
          <p:nvPr/>
        </p:nvCxnSpPr>
        <p:spPr>
          <a:xfrm flipH="1" rot="10800000">
            <a:off x="6130907" y="1352863"/>
            <a:ext cx="1893000" cy="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28"/>
          <p:cNvCxnSpPr>
            <a:stCxn id="331" idx="3"/>
            <a:endCxn id="342" idx="2"/>
          </p:cNvCxnSpPr>
          <p:nvPr/>
        </p:nvCxnSpPr>
        <p:spPr>
          <a:xfrm>
            <a:off x="6130907" y="1400863"/>
            <a:ext cx="1893000" cy="7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28"/>
          <p:cNvCxnSpPr>
            <a:stCxn id="338" idx="3"/>
            <a:endCxn id="343" idx="2"/>
          </p:cNvCxnSpPr>
          <p:nvPr/>
        </p:nvCxnSpPr>
        <p:spPr>
          <a:xfrm flipH="1" rot="10800000">
            <a:off x="6130843" y="4262157"/>
            <a:ext cx="1846500" cy="1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28"/>
          <p:cNvSpPr/>
          <p:nvPr/>
        </p:nvSpPr>
        <p:spPr>
          <a:xfrm>
            <a:off x="8023934" y="28940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348" name="Google Shape;348;p28"/>
          <p:cNvCxnSpPr>
            <a:stCxn id="333" idx="3"/>
            <a:endCxn id="347" idx="2"/>
          </p:cNvCxnSpPr>
          <p:nvPr/>
        </p:nvCxnSpPr>
        <p:spPr>
          <a:xfrm flipH="1" rot="10800000">
            <a:off x="6130843" y="3184809"/>
            <a:ext cx="1893000" cy="25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28"/>
          <p:cNvCxnSpPr>
            <a:stCxn id="327" idx="3"/>
            <a:endCxn id="335" idx="1"/>
          </p:cNvCxnSpPr>
          <p:nvPr/>
        </p:nvCxnSpPr>
        <p:spPr>
          <a:xfrm>
            <a:off x="826700" y="2491595"/>
            <a:ext cx="1969800" cy="84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p28"/>
          <p:cNvCxnSpPr>
            <a:stCxn id="327" idx="3"/>
            <a:endCxn id="339" idx="1"/>
          </p:cNvCxnSpPr>
          <p:nvPr/>
        </p:nvCxnSpPr>
        <p:spPr>
          <a:xfrm>
            <a:off x="826700" y="2491595"/>
            <a:ext cx="2149800" cy="18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From services to microservices</a:t>
            </a:r>
            <a:endParaRPr xmlns:a="http://schemas.openxmlformats.org/drawingml/2006/main"/>
          </a:p>
        </p:txBody>
      </p:sp>
      <p:sp>
        <p:nvSpPr>
          <p:cNvPr id="356" name="Google Shape;356;p29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57" name="Google Shape;357;p29"/>
          <p:cNvSpPr/>
          <p:nvPr/>
        </p:nvSpPr>
        <p:spPr>
          <a:xfrm>
            <a:off x="204500" y="2286845"/>
            <a:ext cx="6222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358" name="Google Shape;358;p29"/>
          <p:cNvSpPr/>
          <p:nvPr/>
        </p:nvSpPr>
        <p:spPr>
          <a:xfrm>
            <a:off x="3339149" y="943900"/>
            <a:ext cx="5604600" cy="157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Microservice1</a:t>
            </a:r>
            <a:endParaRPr xmlns:a="http://schemas.openxmlformats.org/drawingml/2006/main"/>
          </a:p>
        </p:txBody>
      </p:sp>
      <p:cxnSp>
        <p:nvCxnSpPr>
          <p:cNvPr id="359" name="Google Shape;359;p29"/>
          <p:cNvCxnSpPr>
            <a:stCxn id="357" idx="3"/>
            <a:endCxn id="360" idx="1"/>
          </p:cNvCxnSpPr>
          <p:nvPr/>
        </p:nvCxnSpPr>
        <p:spPr>
          <a:xfrm>
            <a:off x="826700" y="2491595"/>
            <a:ext cx="2466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1" name="Google Shape;361;p29"/>
          <p:cNvSpPr/>
          <p:nvPr/>
        </p:nvSpPr>
        <p:spPr>
          <a:xfrm>
            <a:off x="4926107" y="1216813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362" name="Google Shape;362;p29"/>
          <p:cNvSpPr/>
          <p:nvPr/>
        </p:nvSpPr>
        <p:spPr>
          <a:xfrm>
            <a:off x="3339350" y="2696350"/>
            <a:ext cx="5552100" cy="99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Microservice2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63" name="Google Shape;363;p29"/>
          <p:cNvSpPr/>
          <p:nvPr/>
        </p:nvSpPr>
        <p:spPr>
          <a:xfrm>
            <a:off x="4926043" y="3259059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364" name="Google Shape;364;p29"/>
          <p:cNvSpPr/>
          <p:nvPr/>
        </p:nvSpPr>
        <p:spPr>
          <a:xfrm>
            <a:off x="2831355" y="1192038"/>
            <a:ext cx="552600" cy="22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365" name="Google Shape;365;p29"/>
          <p:cNvCxnSpPr>
            <a:stCxn id="361" idx="1"/>
            <a:endCxn id="364" idx="3"/>
          </p:cNvCxnSpPr>
          <p:nvPr/>
        </p:nvCxnSpPr>
        <p:spPr>
          <a:xfrm rot="10800000">
            <a:off x="3383807" y="1305163"/>
            <a:ext cx="1542300" cy="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6" name="Google Shape;366;p29"/>
          <p:cNvSpPr/>
          <p:nvPr/>
        </p:nvSpPr>
        <p:spPr>
          <a:xfrm>
            <a:off x="2796620" y="3219512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367" name="Google Shape;367;p29"/>
          <p:cNvCxnSpPr>
            <a:stCxn id="363" idx="1"/>
            <a:endCxn id="366" idx="3"/>
          </p:cNvCxnSpPr>
          <p:nvPr/>
        </p:nvCxnSpPr>
        <p:spPr>
          <a:xfrm rot="10800000">
            <a:off x="3418543" y="3332709"/>
            <a:ext cx="15075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8" name="Google Shape;368;p29"/>
          <p:cNvSpPr/>
          <p:nvPr/>
        </p:nvSpPr>
        <p:spPr>
          <a:xfrm>
            <a:off x="3339224" y="3827650"/>
            <a:ext cx="5657100" cy="80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Microservice3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69" name="Google Shape;369;p29"/>
          <p:cNvSpPr/>
          <p:nvPr/>
        </p:nvSpPr>
        <p:spPr>
          <a:xfrm>
            <a:off x="4926043" y="4200807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370" name="Google Shape;370;p29"/>
          <p:cNvSpPr/>
          <p:nvPr/>
        </p:nvSpPr>
        <p:spPr>
          <a:xfrm>
            <a:off x="2976395" y="4197585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371" name="Google Shape;371;p29"/>
          <p:cNvCxnSpPr>
            <a:stCxn id="369" idx="1"/>
            <a:endCxn id="370" idx="3"/>
          </p:cNvCxnSpPr>
          <p:nvPr/>
        </p:nvCxnSpPr>
        <p:spPr>
          <a:xfrm rot="10800000">
            <a:off x="3598543" y="4310757"/>
            <a:ext cx="1327500" cy="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2" name="Google Shape;372;p29"/>
          <p:cNvSpPr/>
          <p:nvPr/>
        </p:nvSpPr>
        <p:spPr>
          <a:xfrm>
            <a:off x="8023934" y="1062115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73" name="Google Shape;373;p29"/>
          <p:cNvSpPr/>
          <p:nvPr/>
        </p:nvSpPr>
        <p:spPr>
          <a:xfrm>
            <a:off x="8023934" y="18272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74" name="Google Shape;374;p29"/>
          <p:cNvSpPr/>
          <p:nvPr/>
        </p:nvSpPr>
        <p:spPr>
          <a:xfrm>
            <a:off x="7977209" y="3971436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375" name="Google Shape;375;p29"/>
          <p:cNvCxnSpPr>
            <a:stCxn id="361" idx="3"/>
            <a:endCxn id="372" idx="2"/>
          </p:cNvCxnSpPr>
          <p:nvPr/>
        </p:nvCxnSpPr>
        <p:spPr>
          <a:xfrm flipH="1" rot="10800000">
            <a:off x="6130907" y="1352863"/>
            <a:ext cx="1893000" cy="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29"/>
          <p:cNvCxnSpPr>
            <a:stCxn id="361" idx="3"/>
            <a:endCxn id="373" idx="2"/>
          </p:cNvCxnSpPr>
          <p:nvPr/>
        </p:nvCxnSpPr>
        <p:spPr>
          <a:xfrm>
            <a:off x="6130907" y="1400863"/>
            <a:ext cx="1893000" cy="7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29"/>
          <p:cNvCxnSpPr>
            <a:stCxn id="369" idx="3"/>
            <a:endCxn id="374" idx="2"/>
          </p:cNvCxnSpPr>
          <p:nvPr/>
        </p:nvCxnSpPr>
        <p:spPr>
          <a:xfrm flipH="1" rot="10800000">
            <a:off x="6130843" y="4262157"/>
            <a:ext cx="1846500" cy="1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8" name="Google Shape;378;p29"/>
          <p:cNvSpPr/>
          <p:nvPr/>
        </p:nvSpPr>
        <p:spPr>
          <a:xfrm>
            <a:off x="8023934" y="28940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379" name="Google Shape;379;p29"/>
          <p:cNvCxnSpPr>
            <a:stCxn id="363" idx="3"/>
            <a:endCxn id="378" idx="2"/>
          </p:cNvCxnSpPr>
          <p:nvPr/>
        </p:nvCxnSpPr>
        <p:spPr>
          <a:xfrm flipH="1" rot="10800000">
            <a:off x="6130843" y="3184809"/>
            <a:ext cx="1893000" cy="25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0" name="Google Shape;380;p29"/>
          <p:cNvSpPr/>
          <p:nvPr/>
        </p:nvSpPr>
        <p:spPr>
          <a:xfrm>
            <a:off x="1283875" y="2046400"/>
            <a:ext cx="1109250" cy="875725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360" name="Google Shape;360;p29"/>
          <p:cNvSpPr/>
          <p:nvPr/>
        </p:nvSpPr>
        <p:spPr>
          <a:xfrm>
            <a:off x="1073400" y="2426475"/>
            <a:ext cx="4203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100"/>
              <a:t>API</a:t>
            </a:r>
            <a:endParaRPr xmlns:a="http://schemas.openxmlformats.org/drawingml/2006/main" sz="1100"/>
          </a:p>
        </p:txBody>
      </p:sp>
      <p:sp>
        <p:nvSpPr>
          <p:cNvPr id="381" name="Google Shape;381;p29"/>
          <p:cNvSpPr/>
          <p:nvPr/>
        </p:nvSpPr>
        <p:spPr>
          <a:xfrm>
            <a:off x="1593000" y="2420650"/>
            <a:ext cx="552600" cy="344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382" name="Google Shape;382;p29"/>
          <p:cNvCxnSpPr>
            <a:stCxn id="381" idx="3"/>
            <a:endCxn id="364" idx="1"/>
          </p:cNvCxnSpPr>
          <p:nvPr/>
        </p:nvCxnSpPr>
        <p:spPr>
          <a:xfrm flipH="1" rot="10800000">
            <a:off x="2145600" y="1305250"/>
            <a:ext cx="685800" cy="128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29"/>
          <p:cNvCxnSpPr>
            <a:stCxn id="381" idx="3"/>
            <a:endCxn id="366" idx="1"/>
          </p:cNvCxnSpPr>
          <p:nvPr/>
        </p:nvCxnSpPr>
        <p:spPr>
          <a:xfrm>
            <a:off x="2145600" y="2592850"/>
            <a:ext cx="651000" cy="73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29"/>
          <p:cNvCxnSpPr>
            <a:stCxn id="381" idx="3"/>
            <a:endCxn id="370" idx="1"/>
          </p:cNvCxnSpPr>
          <p:nvPr/>
        </p:nvCxnSpPr>
        <p:spPr>
          <a:xfrm>
            <a:off x="2145600" y="2592850"/>
            <a:ext cx="830700" cy="171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"/>
          <p:cNvSpPr/>
          <p:nvPr/>
        </p:nvSpPr>
        <p:spPr>
          <a:xfrm>
            <a:off x="1278025" y="826200"/>
            <a:ext cx="7799900" cy="38968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390" name="Google Shape;390;p3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From services to microservices</a:t>
            </a:r>
            <a:endParaRPr xmlns:a="http://schemas.openxmlformats.org/drawingml/2006/main"/>
          </a:p>
        </p:txBody>
      </p:sp>
      <p:sp>
        <p:nvSpPr>
          <p:cNvPr id="391" name="Google Shape;391;p3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92" name="Google Shape;392;p30"/>
          <p:cNvSpPr/>
          <p:nvPr/>
        </p:nvSpPr>
        <p:spPr>
          <a:xfrm>
            <a:off x="204500" y="2286845"/>
            <a:ext cx="6222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393" name="Google Shape;393;p30"/>
          <p:cNvSpPr/>
          <p:nvPr/>
        </p:nvSpPr>
        <p:spPr>
          <a:xfrm>
            <a:off x="3339149" y="943900"/>
            <a:ext cx="5604600" cy="157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Microservice1</a:t>
            </a:r>
            <a:endParaRPr xmlns:a="http://schemas.openxmlformats.org/drawingml/2006/main"/>
          </a:p>
        </p:txBody>
      </p:sp>
      <p:cxnSp>
        <p:nvCxnSpPr>
          <p:cNvPr id="394" name="Google Shape;394;p30"/>
          <p:cNvCxnSpPr>
            <a:stCxn id="392" idx="3"/>
            <a:endCxn id="395" idx="1"/>
          </p:cNvCxnSpPr>
          <p:nvPr/>
        </p:nvCxnSpPr>
        <p:spPr>
          <a:xfrm>
            <a:off x="826700" y="2491595"/>
            <a:ext cx="2466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6" name="Google Shape;396;p30"/>
          <p:cNvSpPr/>
          <p:nvPr/>
        </p:nvSpPr>
        <p:spPr>
          <a:xfrm>
            <a:off x="4926107" y="1216813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397" name="Google Shape;397;p30"/>
          <p:cNvSpPr/>
          <p:nvPr/>
        </p:nvSpPr>
        <p:spPr>
          <a:xfrm>
            <a:off x="3339350" y="2696350"/>
            <a:ext cx="5552100" cy="99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Microservice2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98" name="Google Shape;398;p30"/>
          <p:cNvSpPr/>
          <p:nvPr/>
        </p:nvSpPr>
        <p:spPr>
          <a:xfrm>
            <a:off x="4926043" y="3259059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399" name="Google Shape;399;p30"/>
          <p:cNvSpPr/>
          <p:nvPr/>
        </p:nvSpPr>
        <p:spPr>
          <a:xfrm>
            <a:off x="2831355" y="1192038"/>
            <a:ext cx="552600" cy="22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400" name="Google Shape;400;p30"/>
          <p:cNvCxnSpPr>
            <a:stCxn id="396" idx="1"/>
            <a:endCxn id="399" idx="3"/>
          </p:cNvCxnSpPr>
          <p:nvPr/>
        </p:nvCxnSpPr>
        <p:spPr>
          <a:xfrm rot="10800000">
            <a:off x="3383807" y="1305163"/>
            <a:ext cx="1542300" cy="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1" name="Google Shape;401;p30"/>
          <p:cNvSpPr/>
          <p:nvPr/>
        </p:nvSpPr>
        <p:spPr>
          <a:xfrm>
            <a:off x="2796620" y="3219512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402" name="Google Shape;402;p30"/>
          <p:cNvCxnSpPr>
            <a:stCxn id="398" idx="1"/>
            <a:endCxn id="401" idx="3"/>
          </p:cNvCxnSpPr>
          <p:nvPr/>
        </p:nvCxnSpPr>
        <p:spPr>
          <a:xfrm rot="10800000">
            <a:off x="3418543" y="3332709"/>
            <a:ext cx="15075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3" name="Google Shape;403;p30"/>
          <p:cNvSpPr/>
          <p:nvPr/>
        </p:nvSpPr>
        <p:spPr>
          <a:xfrm>
            <a:off x="3339224" y="3827650"/>
            <a:ext cx="5657100" cy="80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Microservice3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04" name="Google Shape;404;p30"/>
          <p:cNvSpPr/>
          <p:nvPr/>
        </p:nvSpPr>
        <p:spPr>
          <a:xfrm>
            <a:off x="4926043" y="4200807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405" name="Google Shape;405;p30"/>
          <p:cNvSpPr/>
          <p:nvPr/>
        </p:nvSpPr>
        <p:spPr>
          <a:xfrm>
            <a:off x="2976395" y="4197585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406" name="Google Shape;406;p30"/>
          <p:cNvCxnSpPr>
            <a:stCxn id="404" idx="1"/>
            <a:endCxn id="405" idx="3"/>
          </p:cNvCxnSpPr>
          <p:nvPr/>
        </p:nvCxnSpPr>
        <p:spPr>
          <a:xfrm rot="10800000">
            <a:off x="3598543" y="4310757"/>
            <a:ext cx="1327500" cy="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7" name="Google Shape;407;p30"/>
          <p:cNvSpPr/>
          <p:nvPr/>
        </p:nvSpPr>
        <p:spPr>
          <a:xfrm>
            <a:off x="8023934" y="1062115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08" name="Google Shape;408;p30"/>
          <p:cNvSpPr/>
          <p:nvPr/>
        </p:nvSpPr>
        <p:spPr>
          <a:xfrm>
            <a:off x="8023934" y="18272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09" name="Google Shape;409;p30"/>
          <p:cNvSpPr/>
          <p:nvPr/>
        </p:nvSpPr>
        <p:spPr>
          <a:xfrm>
            <a:off x="7977209" y="3971436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410" name="Google Shape;410;p30"/>
          <p:cNvCxnSpPr>
            <a:stCxn id="396" idx="3"/>
            <a:endCxn id="407" idx="2"/>
          </p:cNvCxnSpPr>
          <p:nvPr/>
        </p:nvCxnSpPr>
        <p:spPr>
          <a:xfrm flipH="1" rot="10800000">
            <a:off x="6130907" y="1352863"/>
            <a:ext cx="1893000" cy="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30"/>
          <p:cNvCxnSpPr>
            <a:stCxn id="396" idx="3"/>
            <a:endCxn id="408" idx="2"/>
          </p:cNvCxnSpPr>
          <p:nvPr/>
        </p:nvCxnSpPr>
        <p:spPr>
          <a:xfrm>
            <a:off x="6130907" y="1400863"/>
            <a:ext cx="1893000" cy="7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" name="Google Shape;412;p30"/>
          <p:cNvCxnSpPr>
            <a:stCxn id="404" idx="3"/>
            <a:endCxn id="409" idx="2"/>
          </p:cNvCxnSpPr>
          <p:nvPr/>
        </p:nvCxnSpPr>
        <p:spPr>
          <a:xfrm flipH="1" rot="10800000">
            <a:off x="6130843" y="4262157"/>
            <a:ext cx="1846500" cy="1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3" name="Google Shape;413;p30"/>
          <p:cNvSpPr/>
          <p:nvPr/>
        </p:nvSpPr>
        <p:spPr>
          <a:xfrm>
            <a:off x="8023934" y="28940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414" name="Google Shape;414;p30"/>
          <p:cNvCxnSpPr>
            <a:stCxn id="398" idx="3"/>
            <a:endCxn id="413" idx="2"/>
          </p:cNvCxnSpPr>
          <p:nvPr/>
        </p:nvCxnSpPr>
        <p:spPr>
          <a:xfrm flipH="1" rot="10800000">
            <a:off x="6130843" y="3184809"/>
            <a:ext cx="1893000" cy="25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" name="Google Shape;395;p30"/>
          <p:cNvSpPr/>
          <p:nvPr/>
        </p:nvSpPr>
        <p:spPr>
          <a:xfrm>
            <a:off x="1073400" y="2426475"/>
            <a:ext cx="4203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100"/>
              <a:t>API</a:t>
            </a:r>
            <a:endParaRPr xmlns:a="http://schemas.openxmlformats.org/drawingml/2006/main" sz="1100"/>
          </a:p>
        </p:txBody>
      </p:sp>
      <p:sp>
        <p:nvSpPr>
          <p:cNvPr id="415" name="Google Shape;415;p30"/>
          <p:cNvSpPr/>
          <p:nvPr/>
        </p:nvSpPr>
        <p:spPr>
          <a:xfrm>
            <a:off x="1806725" y="2459025"/>
            <a:ext cx="552600" cy="344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416" name="Google Shape;416;p30"/>
          <p:cNvCxnSpPr>
            <a:stCxn id="415" idx="3"/>
            <a:endCxn id="399" idx="1"/>
          </p:cNvCxnSpPr>
          <p:nvPr/>
        </p:nvCxnSpPr>
        <p:spPr>
          <a:xfrm flipH="1" rot="10800000">
            <a:off x="2359325" y="1305225"/>
            <a:ext cx="471900" cy="13260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30"/>
          <p:cNvCxnSpPr>
            <a:stCxn id="415" idx="3"/>
            <a:endCxn id="401" idx="1"/>
          </p:cNvCxnSpPr>
          <p:nvPr/>
        </p:nvCxnSpPr>
        <p:spPr>
          <a:xfrm>
            <a:off x="2359325" y="2631225"/>
            <a:ext cx="437400" cy="7014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30"/>
          <p:cNvCxnSpPr>
            <a:stCxn id="415" idx="3"/>
            <a:endCxn id="405" idx="1"/>
          </p:cNvCxnSpPr>
          <p:nvPr/>
        </p:nvCxnSpPr>
        <p:spPr>
          <a:xfrm>
            <a:off x="2359325" y="2631225"/>
            <a:ext cx="617100" cy="16794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30"/>
          <p:cNvCxnSpPr>
            <a:stCxn id="415" idx="1"/>
            <a:endCxn id="395" idx="3"/>
          </p:cNvCxnSpPr>
          <p:nvPr/>
        </p:nvCxnSpPr>
        <p:spPr>
          <a:xfrm rot="10800000">
            <a:off x="1493825" y="2631225"/>
            <a:ext cx="31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0" name="Google Shape;420;p30"/>
          <p:cNvSpPr txBox="1"/>
          <p:nvPr/>
        </p:nvSpPr>
        <p:spPr>
          <a:xfrm>
            <a:off x="28650" y="3850400"/>
            <a:ext cx="1080000" cy="400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network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1"/>
          <p:cNvSpPr/>
          <p:nvPr/>
        </p:nvSpPr>
        <p:spPr>
          <a:xfrm>
            <a:off x="1278025" y="826200"/>
            <a:ext cx="7799900" cy="38968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</a:t>
            </a:r>
            <a:endParaRPr xmlns:a="http://schemas.openxmlformats.org/drawingml/2006/main"/>
          </a:p>
        </p:txBody>
      </p:sp>
      <p:sp>
        <p:nvSpPr>
          <p:cNvPr id="426" name="Google Shape;426;p3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From services to microservices</a:t>
            </a:r>
            <a:endParaRPr xmlns:a="http://schemas.openxmlformats.org/drawingml/2006/main"/>
          </a:p>
        </p:txBody>
      </p:sp>
      <p:sp>
        <p:nvSpPr>
          <p:cNvPr id="427" name="Google Shape;427;p3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28" name="Google Shape;428;p31"/>
          <p:cNvSpPr/>
          <p:nvPr/>
        </p:nvSpPr>
        <p:spPr>
          <a:xfrm>
            <a:off x="204500" y="2286845"/>
            <a:ext cx="6222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429" name="Google Shape;429;p31"/>
          <p:cNvSpPr/>
          <p:nvPr/>
        </p:nvSpPr>
        <p:spPr>
          <a:xfrm>
            <a:off x="3339149" y="943900"/>
            <a:ext cx="5604600" cy="157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Module1</a:t>
            </a:r>
            <a:endParaRPr xmlns:a="http://schemas.openxmlformats.org/drawingml/2006/main"/>
          </a:p>
        </p:txBody>
      </p:sp>
      <p:cxnSp>
        <p:nvCxnSpPr>
          <p:cNvPr id="430" name="Google Shape;430;p31"/>
          <p:cNvCxnSpPr>
            <a:stCxn id="428" idx="3"/>
            <a:endCxn id="431" idx="1"/>
          </p:cNvCxnSpPr>
          <p:nvPr/>
        </p:nvCxnSpPr>
        <p:spPr>
          <a:xfrm>
            <a:off x="826700" y="2491595"/>
            <a:ext cx="2466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" name="Google Shape;432;p31"/>
          <p:cNvSpPr/>
          <p:nvPr/>
        </p:nvSpPr>
        <p:spPr>
          <a:xfrm>
            <a:off x="4926107" y="1216813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433" name="Google Shape;433;p31"/>
          <p:cNvSpPr/>
          <p:nvPr/>
        </p:nvSpPr>
        <p:spPr>
          <a:xfrm>
            <a:off x="3339350" y="2696350"/>
            <a:ext cx="5552100" cy="99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Module2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34" name="Google Shape;434;p31"/>
          <p:cNvSpPr/>
          <p:nvPr/>
        </p:nvSpPr>
        <p:spPr>
          <a:xfrm>
            <a:off x="4926043" y="3259059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435" name="Google Shape;435;p31"/>
          <p:cNvSpPr/>
          <p:nvPr/>
        </p:nvSpPr>
        <p:spPr>
          <a:xfrm>
            <a:off x="2831355" y="1192038"/>
            <a:ext cx="552600" cy="22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436" name="Google Shape;436;p31"/>
          <p:cNvCxnSpPr>
            <a:stCxn id="432" idx="1"/>
            <a:endCxn id="435" idx="3"/>
          </p:cNvCxnSpPr>
          <p:nvPr/>
        </p:nvCxnSpPr>
        <p:spPr>
          <a:xfrm rot="10800000">
            <a:off x="3383807" y="1305163"/>
            <a:ext cx="1542300" cy="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7" name="Google Shape;437;p31"/>
          <p:cNvSpPr/>
          <p:nvPr/>
        </p:nvSpPr>
        <p:spPr>
          <a:xfrm>
            <a:off x="2796620" y="3219512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438" name="Google Shape;438;p31"/>
          <p:cNvCxnSpPr>
            <a:stCxn id="434" idx="1"/>
            <a:endCxn id="437" idx="3"/>
          </p:cNvCxnSpPr>
          <p:nvPr/>
        </p:nvCxnSpPr>
        <p:spPr>
          <a:xfrm rot="10800000">
            <a:off x="3418543" y="3332709"/>
            <a:ext cx="15075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9" name="Google Shape;439;p31"/>
          <p:cNvSpPr/>
          <p:nvPr/>
        </p:nvSpPr>
        <p:spPr>
          <a:xfrm>
            <a:off x="3339224" y="3827650"/>
            <a:ext cx="5657100" cy="80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Module3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40" name="Google Shape;440;p31"/>
          <p:cNvSpPr/>
          <p:nvPr/>
        </p:nvSpPr>
        <p:spPr>
          <a:xfrm>
            <a:off x="4926043" y="4200807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441" name="Google Shape;441;p31"/>
          <p:cNvSpPr/>
          <p:nvPr/>
        </p:nvSpPr>
        <p:spPr>
          <a:xfrm>
            <a:off x="2976395" y="4197585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442" name="Google Shape;442;p31"/>
          <p:cNvCxnSpPr>
            <a:stCxn id="440" idx="1"/>
            <a:endCxn id="441" idx="3"/>
          </p:cNvCxnSpPr>
          <p:nvPr/>
        </p:nvCxnSpPr>
        <p:spPr>
          <a:xfrm rot="10800000">
            <a:off x="3598543" y="4310757"/>
            <a:ext cx="1327500" cy="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3" name="Google Shape;443;p31"/>
          <p:cNvSpPr/>
          <p:nvPr/>
        </p:nvSpPr>
        <p:spPr>
          <a:xfrm>
            <a:off x="8023934" y="1062115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44" name="Google Shape;444;p31"/>
          <p:cNvSpPr/>
          <p:nvPr/>
        </p:nvSpPr>
        <p:spPr>
          <a:xfrm>
            <a:off x="8023934" y="18272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45" name="Google Shape;445;p31"/>
          <p:cNvSpPr/>
          <p:nvPr/>
        </p:nvSpPr>
        <p:spPr>
          <a:xfrm>
            <a:off x="7977209" y="3971436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446" name="Google Shape;446;p31"/>
          <p:cNvCxnSpPr>
            <a:stCxn id="432" idx="3"/>
            <a:endCxn id="443" idx="2"/>
          </p:cNvCxnSpPr>
          <p:nvPr/>
        </p:nvCxnSpPr>
        <p:spPr>
          <a:xfrm flipH="1" rot="10800000">
            <a:off x="6130907" y="1352863"/>
            <a:ext cx="1893000" cy="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" name="Google Shape;447;p31"/>
          <p:cNvCxnSpPr>
            <a:stCxn id="432" idx="3"/>
            <a:endCxn id="444" idx="2"/>
          </p:cNvCxnSpPr>
          <p:nvPr/>
        </p:nvCxnSpPr>
        <p:spPr>
          <a:xfrm>
            <a:off x="6130907" y="1400863"/>
            <a:ext cx="1893000" cy="7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31"/>
          <p:cNvCxnSpPr>
            <a:stCxn id="440" idx="3"/>
            <a:endCxn id="445" idx="2"/>
          </p:cNvCxnSpPr>
          <p:nvPr/>
        </p:nvCxnSpPr>
        <p:spPr>
          <a:xfrm flipH="1" rot="10800000">
            <a:off x="6130843" y="4262157"/>
            <a:ext cx="1846500" cy="1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9" name="Google Shape;449;p31"/>
          <p:cNvSpPr/>
          <p:nvPr/>
        </p:nvSpPr>
        <p:spPr>
          <a:xfrm>
            <a:off x="8023934" y="28940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450" name="Google Shape;450;p31"/>
          <p:cNvCxnSpPr>
            <a:stCxn id="434" idx="3"/>
            <a:endCxn id="449" idx="2"/>
          </p:cNvCxnSpPr>
          <p:nvPr/>
        </p:nvCxnSpPr>
        <p:spPr>
          <a:xfrm flipH="1" rot="10800000">
            <a:off x="6130843" y="3184809"/>
            <a:ext cx="1893000" cy="25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1" name="Google Shape;431;p31"/>
          <p:cNvSpPr/>
          <p:nvPr/>
        </p:nvSpPr>
        <p:spPr>
          <a:xfrm>
            <a:off x="1073400" y="2426475"/>
            <a:ext cx="4203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100"/>
              <a:t>API</a:t>
            </a:r>
            <a:endParaRPr xmlns:a="http://schemas.openxmlformats.org/drawingml/2006/main" sz="1100"/>
          </a:p>
        </p:txBody>
      </p:sp>
      <p:sp>
        <p:nvSpPr>
          <p:cNvPr id="451" name="Google Shape;451;p31"/>
          <p:cNvSpPr/>
          <p:nvPr/>
        </p:nvSpPr>
        <p:spPr>
          <a:xfrm>
            <a:off x="1806725" y="2459025"/>
            <a:ext cx="552600" cy="344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452" name="Google Shape;452;p31"/>
          <p:cNvCxnSpPr>
            <a:stCxn id="451" idx="3"/>
            <a:endCxn id="435" idx="1"/>
          </p:cNvCxnSpPr>
          <p:nvPr/>
        </p:nvCxnSpPr>
        <p:spPr>
          <a:xfrm flipH="1" rot="10800000">
            <a:off x="2359325" y="1305225"/>
            <a:ext cx="471900" cy="13260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31"/>
          <p:cNvCxnSpPr>
            <a:stCxn id="451" idx="3"/>
            <a:endCxn id="437" idx="1"/>
          </p:cNvCxnSpPr>
          <p:nvPr/>
        </p:nvCxnSpPr>
        <p:spPr>
          <a:xfrm>
            <a:off x="2359325" y="2631225"/>
            <a:ext cx="437400" cy="7014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31"/>
          <p:cNvCxnSpPr>
            <a:stCxn id="451" idx="3"/>
            <a:endCxn id="441" idx="1"/>
          </p:cNvCxnSpPr>
          <p:nvPr/>
        </p:nvCxnSpPr>
        <p:spPr>
          <a:xfrm>
            <a:off x="2359325" y="2631225"/>
            <a:ext cx="617100" cy="16794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5" name="Google Shape;455;p31"/>
          <p:cNvCxnSpPr>
            <a:stCxn id="451" idx="1"/>
            <a:endCxn id="431" idx="3"/>
          </p:cNvCxnSpPr>
          <p:nvPr/>
        </p:nvCxnSpPr>
        <p:spPr>
          <a:xfrm rot="10800000">
            <a:off x="1493825" y="2631225"/>
            <a:ext cx="31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6" name="Google Shape;456;p31"/>
          <p:cNvSpPr txBox="1"/>
          <p:nvPr/>
        </p:nvSpPr>
        <p:spPr>
          <a:xfrm>
            <a:off x="28650" y="3850400"/>
            <a:ext cx="1080000" cy="400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Local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>
            <a:off x="1278025" y="826200"/>
            <a:ext cx="7799900" cy="38968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</a:t>
            </a:r>
            <a:endParaRPr xmlns:a="http://schemas.openxmlformats.org/drawingml/2006/main"/>
          </a:p>
        </p:txBody>
      </p:sp>
      <p:sp>
        <p:nvSpPr>
          <p:cNvPr id="462" name="Google Shape;462;p3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From services to microservices</a:t>
            </a:r>
            <a:endParaRPr xmlns:a="http://schemas.openxmlformats.org/drawingml/2006/main"/>
          </a:p>
        </p:txBody>
      </p:sp>
      <p:sp>
        <p:nvSpPr>
          <p:cNvPr id="463" name="Google Shape;463;p3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64" name="Google Shape;464;p32"/>
          <p:cNvSpPr/>
          <p:nvPr/>
        </p:nvSpPr>
        <p:spPr>
          <a:xfrm>
            <a:off x="204500" y="2286845"/>
            <a:ext cx="6222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465" name="Google Shape;465;p32"/>
          <p:cNvSpPr/>
          <p:nvPr/>
        </p:nvSpPr>
        <p:spPr>
          <a:xfrm>
            <a:off x="3339150" y="943900"/>
            <a:ext cx="4074900" cy="157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Module1</a:t>
            </a:r>
            <a:endParaRPr xmlns:a="http://schemas.openxmlformats.org/drawingml/2006/main"/>
          </a:p>
        </p:txBody>
      </p:sp>
      <p:cxnSp>
        <p:nvCxnSpPr>
          <p:cNvPr id="466" name="Google Shape;466;p32"/>
          <p:cNvCxnSpPr>
            <a:stCxn id="464" idx="3"/>
            <a:endCxn id="467" idx="1"/>
          </p:cNvCxnSpPr>
          <p:nvPr/>
        </p:nvCxnSpPr>
        <p:spPr>
          <a:xfrm>
            <a:off x="826700" y="2491595"/>
            <a:ext cx="2466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8" name="Google Shape;468;p32"/>
          <p:cNvSpPr/>
          <p:nvPr/>
        </p:nvSpPr>
        <p:spPr>
          <a:xfrm>
            <a:off x="4926107" y="1216813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469" name="Google Shape;469;p32"/>
          <p:cNvSpPr/>
          <p:nvPr/>
        </p:nvSpPr>
        <p:spPr>
          <a:xfrm>
            <a:off x="3339350" y="2696350"/>
            <a:ext cx="4074900" cy="99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Module2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70" name="Google Shape;470;p32"/>
          <p:cNvSpPr/>
          <p:nvPr/>
        </p:nvSpPr>
        <p:spPr>
          <a:xfrm>
            <a:off x="4926043" y="3259059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471" name="Google Shape;471;p32"/>
          <p:cNvSpPr/>
          <p:nvPr/>
        </p:nvSpPr>
        <p:spPr>
          <a:xfrm>
            <a:off x="2831355" y="1192038"/>
            <a:ext cx="552600" cy="22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472" name="Google Shape;472;p32"/>
          <p:cNvCxnSpPr>
            <a:stCxn id="468" idx="1"/>
            <a:endCxn id="471" idx="3"/>
          </p:cNvCxnSpPr>
          <p:nvPr/>
        </p:nvCxnSpPr>
        <p:spPr>
          <a:xfrm rot="10800000">
            <a:off x="3383807" y="1305163"/>
            <a:ext cx="1542300" cy="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p32"/>
          <p:cNvSpPr/>
          <p:nvPr/>
        </p:nvSpPr>
        <p:spPr>
          <a:xfrm>
            <a:off x="2796620" y="3219512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474" name="Google Shape;474;p32"/>
          <p:cNvCxnSpPr>
            <a:stCxn id="470" idx="1"/>
            <a:endCxn id="473" idx="3"/>
          </p:cNvCxnSpPr>
          <p:nvPr/>
        </p:nvCxnSpPr>
        <p:spPr>
          <a:xfrm rot="10800000">
            <a:off x="3418543" y="3332709"/>
            <a:ext cx="15075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5" name="Google Shape;475;p32"/>
          <p:cNvSpPr/>
          <p:nvPr/>
        </p:nvSpPr>
        <p:spPr>
          <a:xfrm>
            <a:off x="3339225" y="3827650"/>
            <a:ext cx="4010700" cy="80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Module3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76" name="Google Shape;476;p32"/>
          <p:cNvSpPr/>
          <p:nvPr/>
        </p:nvSpPr>
        <p:spPr>
          <a:xfrm>
            <a:off x="4926043" y="4200807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477" name="Google Shape;477;p32"/>
          <p:cNvSpPr/>
          <p:nvPr/>
        </p:nvSpPr>
        <p:spPr>
          <a:xfrm>
            <a:off x="2976395" y="4197585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478" name="Google Shape;478;p32"/>
          <p:cNvCxnSpPr>
            <a:stCxn id="476" idx="1"/>
            <a:endCxn id="477" idx="3"/>
          </p:cNvCxnSpPr>
          <p:nvPr/>
        </p:nvCxnSpPr>
        <p:spPr>
          <a:xfrm rot="10800000">
            <a:off x="3598543" y="4310757"/>
            <a:ext cx="1327500" cy="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32"/>
          <p:cNvSpPr/>
          <p:nvPr/>
        </p:nvSpPr>
        <p:spPr>
          <a:xfrm>
            <a:off x="8023934" y="1062115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80" name="Google Shape;480;p32"/>
          <p:cNvSpPr/>
          <p:nvPr/>
        </p:nvSpPr>
        <p:spPr>
          <a:xfrm>
            <a:off x="8023934" y="1827285"/>
            <a:ext cx="760994" cy="581737"/>
          </a:xfrm>
          <a:prstGeom prst="flowChartMagneticDisk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81" name="Google Shape;481;p32"/>
          <p:cNvSpPr/>
          <p:nvPr/>
        </p:nvSpPr>
        <p:spPr>
          <a:xfrm>
            <a:off x="7977209" y="3971436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482" name="Google Shape;482;p32"/>
          <p:cNvCxnSpPr>
            <a:stCxn id="468" idx="3"/>
            <a:endCxn id="479" idx="2"/>
          </p:cNvCxnSpPr>
          <p:nvPr/>
        </p:nvCxnSpPr>
        <p:spPr>
          <a:xfrm flipH="1" rot="10800000">
            <a:off x="6130907" y="1352863"/>
            <a:ext cx="1893000" cy="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3" name="Google Shape;483;p32"/>
          <p:cNvCxnSpPr>
            <a:stCxn id="468" idx="3"/>
            <a:endCxn id="480" idx="2"/>
          </p:cNvCxnSpPr>
          <p:nvPr/>
        </p:nvCxnSpPr>
        <p:spPr>
          <a:xfrm>
            <a:off x="6130907" y="1400863"/>
            <a:ext cx="1893000" cy="7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4" name="Google Shape;484;p32"/>
          <p:cNvCxnSpPr>
            <a:stCxn id="476" idx="3"/>
            <a:endCxn id="481" idx="2"/>
          </p:cNvCxnSpPr>
          <p:nvPr/>
        </p:nvCxnSpPr>
        <p:spPr>
          <a:xfrm flipH="1" rot="10800000">
            <a:off x="6130843" y="4262157"/>
            <a:ext cx="1846500" cy="1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32"/>
          <p:cNvCxnSpPr>
            <a:stCxn id="470" idx="3"/>
            <a:endCxn id="480" idx="2"/>
          </p:cNvCxnSpPr>
          <p:nvPr/>
        </p:nvCxnSpPr>
        <p:spPr>
          <a:xfrm flipH="1" rot="10800000">
            <a:off x="6130843" y="2118009"/>
            <a:ext cx="1893000" cy="132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7" name="Google Shape;467;p32"/>
          <p:cNvSpPr/>
          <p:nvPr/>
        </p:nvSpPr>
        <p:spPr>
          <a:xfrm>
            <a:off x="1073400" y="2426475"/>
            <a:ext cx="4203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100"/>
              <a:t>API</a:t>
            </a:r>
            <a:endParaRPr xmlns:a="http://schemas.openxmlformats.org/drawingml/2006/main" sz="1100"/>
          </a:p>
        </p:txBody>
      </p:sp>
      <p:sp>
        <p:nvSpPr>
          <p:cNvPr id="486" name="Google Shape;486;p32"/>
          <p:cNvSpPr/>
          <p:nvPr/>
        </p:nvSpPr>
        <p:spPr>
          <a:xfrm>
            <a:off x="1806725" y="2459025"/>
            <a:ext cx="552600" cy="344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487" name="Google Shape;487;p32"/>
          <p:cNvCxnSpPr>
            <a:stCxn id="486" idx="3"/>
            <a:endCxn id="471" idx="1"/>
          </p:cNvCxnSpPr>
          <p:nvPr/>
        </p:nvCxnSpPr>
        <p:spPr>
          <a:xfrm flipH="1" rot="10800000">
            <a:off x="2359325" y="1305225"/>
            <a:ext cx="471900" cy="13260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8" name="Google Shape;488;p32"/>
          <p:cNvCxnSpPr>
            <a:stCxn id="486" idx="3"/>
            <a:endCxn id="473" idx="1"/>
          </p:cNvCxnSpPr>
          <p:nvPr/>
        </p:nvCxnSpPr>
        <p:spPr>
          <a:xfrm>
            <a:off x="2359325" y="2631225"/>
            <a:ext cx="437400" cy="7014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p32"/>
          <p:cNvCxnSpPr>
            <a:stCxn id="486" idx="3"/>
            <a:endCxn id="477" idx="1"/>
          </p:cNvCxnSpPr>
          <p:nvPr/>
        </p:nvCxnSpPr>
        <p:spPr>
          <a:xfrm>
            <a:off x="2359325" y="2631225"/>
            <a:ext cx="617100" cy="16794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" name="Google Shape;490;p32"/>
          <p:cNvCxnSpPr>
            <a:stCxn id="486" idx="1"/>
            <a:endCxn id="467" idx="3"/>
          </p:cNvCxnSpPr>
          <p:nvPr/>
        </p:nvCxnSpPr>
        <p:spPr>
          <a:xfrm rot="10800000">
            <a:off x="1493825" y="2631225"/>
            <a:ext cx="31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1" name="Google Shape;491;p32"/>
          <p:cNvSpPr txBox="1"/>
          <p:nvPr/>
        </p:nvSpPr>
        <p:spPr>
          <a:xfrm>
            <a:off x="28650" y="3850400"/>
            <a:ext cx="1080000" cy="400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Local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Microservices expectations</a:t>
            </a:r>
            <a:endParaRPr xmlns:a="http://schemas.openxmlformats.org/drawingml/2006/main"/>
          </a:p>
        </p:txBody>
      </p:sp>
      <p:sp>
        <p:nvSpPr>
          <p:cNvPr id="497" name="Google Shape;497;p3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98" name="Google Shape;498;p33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Independent release cycles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Not necessarily “agile” / fast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Characteristics of Microservice: “Can be fully implemented in a typical Scrum Spring of 3 weeks”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Microservices can operate independently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Each microservice completely contains algorithms + data storage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Technologies used / the runtime of a microservice can be defined independently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Dynamic scalability (up and down) is provided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b="1" lang="en"/>
              <a:t>Availability</a:t>
            </a:r>
            <a:endParaRPr xmlns:a="http://schemas.openxmlformats.org/drawingml/2006/main" b="1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No dead times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04" name="Google Shape;504;p3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505" name="Google Shape;505;p34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Excursus: Data storage in distributed systems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5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11" name="Google Shape;511;p3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 landscape of systems</a:t>
            </a:r>
            <a:endParaRPr xmlns:a="http://schemas.openxmlformats.org/drawingml/2006/main"/>
          </a:p>
        </p:txBody>
      </p:sp>
      <p:grpSp>
        <p:nvGrpSpPr>
          <p:cNvPr id="512" name="Google Shape;512;p35"/>
          <p:cNvGrpSpPr/>
          <p:nvPr/>
        </p:nvGrpSpPr>
        <p:grpSpPr>
          <a:xfrm>
            <a:off x="2976950" y="942950"/>
            <a:ext cx="2037600" cy="788100"/>
            <a:chOff x="2976950" y="942950"/>
            <a:chExt cx="2037600" cy="788100"/>
          </a:xfrm>
        </p:grpSpPr>
        <p:sp>
          <p:nvSpPr>
            <p:cNvPr id="513" name="Google Shape;513;p35"/>
            <p:cNvSpPr/>
            <p:nvPr/>
          </p:nvSpPr>
          <p:spPr>
            <a:xfrm>
              <a:off x="2976950" y="942950"/>
              <a:ext cx="2037600" cy="788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xmlns:a="http://schemas.openxmlformats.org/drawingml/2006/main"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 xmlns:a="http://schemas.openxmlformats.org/drawingml/2006/main">
                <a:rPr lang="en"/>
                <a:t>Microservice</a:t>
              </a:r>
              <a:endParaRPr xmlns:a="http://schemas.openxmlformats.org/drawingml/2006/main"/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4243550" y="1112275"/>
              <a:ext cx="216000" cy="286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xmlns:a="http://schemas.openxmlformats.org/drawingml/2006/main"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 xmlns:a="http://schemas.openxmlformats.org/drawingml/2006/main">
                <a:t/>
              </a:r>
              <a:endParaRPr xmlns:a="http://schemas.openxmlformats.org/drawingml/2006/main"/>
            </a:p>
          </p:txBody>
        </p:sp>
        <p:sp>
          <p:nvSpPr>
            <p:cNvPr id="515" name="Google Shape;515;p35"/>
            <p:cNvSpPr/>
            <p:nvPr/>
          </p:nvSpPr>
          <p:spPr>
            <a:xfrm>
              <a:off x="4572000" y="1094825"/>
              <a:ext cx="285300" cy="321100"/>
            </a:xfrm>
            <a:prstGeom prst="flowChartMagneticDisk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xmlns:a="http://schemas.openxmlformats.org/drawingml/2006/main"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 xmlns:a="http://schemas.openxmlformats.org/drawingml/2006/main">
                <a:t/>
              </a:r>
              <a:endParaRPr xmlns:a="http://schemas.openxmlformats.org/drawingml/2006/main"/>
            </a:p>
          </p:txBody>
        </p:sp>
        <p:cxnSp>
          <p:nvCxnSpPr>
            <p:cNvPr id="516" name="Google Shape;516;p35"/>
            <p:cNvCxnSpPr/>
            <p:nvPr/>
          </p:nvCxnSpPr>
          <p:spPr>
            <a:xfrm flipH="1" rot="10800000">
              <a:off x="4459550" y="1228975"/>
              <a:ext cx="146400" cy="2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17" name="Google Shape;517;p35"/>
          <p:cNvGrpSpPr/>
          <p:nvPr/>
        </p:nvGrpSpPr>
        <p:grpSpPr>
          <a:xfrm>
            <a:off x="2976950" y="2009750"/>
            <a:ext cx="2037600" cy="788100"/>
            <a:chOff x="2976950" y="714350"/>
            <a:chExt cx="2037600" cy="788100"/>
          </a:xfrm>
        </p:grpSpPr>
        <p:sp>
          <p:nvSpPr>
            <p:cNvPr id="518" name="Google Shape;518;p35"/>
            <p:cNvSpPr/>
            <p:nvPr/>
          </p:nvSpPr>
          <p:spPr>
            <a:xfrm>
              <a:off x="2976950" y="714350"/>
              <a:ext cx="2037600" cy="788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xmlns:a="http://schemas.openxmlformats.org/drawingml/2006/main"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 xmlns:a="http://schemas.openxmlformats.org/drawingml/2006/main">
                <a:rPr lang="en"/>
                <a:t>Microservice2</a:t>
              </a:r>
              <a:endParaRPr xmlns:a="http://schemas.openxmlformats.org/drawingml/2006/main"/>
            </a:p>
          </p:txBody>
        </p:sp>
        <p:sp>
          <p:nvSpPr>
            <p:cNvPr id="519" name="Google Shape;519;p35"/>
            <p:cNvSpPr/>
            <p:nvPr/>
          </p:nvSpPr>
          <p:spPr>
            <a:xfrm>
              <a:off x="4243550" y="1112275"/>
              <a:ext cx="216000" cy="286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xmlns:a="http://schemas.openxmlformats.org/drawingml/2006/main"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 xmlns:a="http://schemas.openxmlformats.org/drawingml/2006/main">
                <a:t/>
              </a:r>
              <a:endParaRPr xmlns:a="http://schemas.openxmlformats.org/drawingml/2006/main"/>
            </a:p>
          </p:txBody>
        </p:sp>
        <p:sp>
          <p:nvSpPr>
            <p:cNvPr id="520" name="Google Shape;520;p35"/>
            <p:cNvSpPr/>
            <p:nvPr/>
          </p:nvSpPr>
          <p:spPr>
            <a:xfrm>
              <a:off x="4572000" y="1094825"/>
              <a:ext cx="285300" cy="321100"/>
            </a:xfrm>
            <a:prstGeom prst="flowChartMagneticDisk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xmlns:a="http://schemas.openxmlformats.org/drawingml/2006/main"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 xmlns:a="http://schemas.openxmlformats.org/drawingml/2006/main">
                <a:t/>
              </a:r>
              <a:endParaRPr xmlns:a="http://schemas.openxmlformats.org/drawingml/2006/main"/>
            </a:p>
          </p:txBody>
        </p:sp>
        <p:cxnSp>
          <p:nvCxnSpPr>
            <p:cNvPr id="521" name="Google Shape;521;p35"/>
            <p:cNvCxnSpPr/>
            <p:nvPr/>
          </p:nvCxnSpPr>
          <p:spPr>
            <a:xfrm flipH="1" rot="10800000">
              <a:off x="4459550" y="1228975"/>
              <a:ext cx="146400" cy="2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22" name="Google Shape;522;p35"/>
          <p:cNvGrpSpPr/>
          <p:nvPr/>
        </p:nvGrpSpPr>
        <p:grpSpPr>
          <a:xfrm>
            <a:off x="2976950" y="3152750"/>
            <a:ext cx="2037600" cy="788100"/>
            <a:chOff x="2976950" y="942950"/>
            <a:chExt cx="2037600" cy="788100"/>
          </a:xfrm>
        </p:grpSpPr>
        <p:sp>
          <p:nvSpPr>
            <p:cNvPr id="523" name="Google Shape;523;p35"/>
            <p:cNvSpPr/>
            <p:nvPr/>
          </p:nvSpPr>
          <p:spPr>
            <a:xfrm>
              <a:off x="2976950" y="942950"/>
              <a:ext cx="2037600" cy="788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xmlns:a="http://schemas.openxmlformats.org/drawingml/2006/main"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 xmlns:a="http://schemas.openxmlformats.org/drawingml/2006/main">
                <a:rPr lang="en"/>
                <a:t>Microservice3</a:t>
              </a:r>
              <a:endParaRPr xmlns:a="http://schemas.openxmlformats.org/drawingml/2006/main"/>
            </a:p>
          </p:txBody>
        </p:sp>
        <p:sp>
          <p:nvSpPr>
            <p:cNvPr id="524" name="Google Shape;524;p35"/>
            <p:cNvSpPr/>
            <p:nvPr/>
          </p:nvSpPr>
          <p:spPr>
            <a:xfrm>
              <a:off x="4243550" y="1112275"/>
              <a:ext cx="216000" cy="286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xmlns:a="http://schemas.openxmlformats.org/drawingml/2006/main"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 xmlns:a="http://schemas.openxmlformats.org/drawingml/2006/main">
                <a:t/>
              </a:r>
              <a:endParaRPr xmlns:a="http://schemas.openxmlformats.org/drawingml/2006/main"/>
            </a:p>
          </p:txBody>
        </p:sp>
        <p:sp>
          <p:nvSpPr>
            <p:cNvPr id="525" name="Google Shape;525;p35"/>
            <p:cNvSpPr/>
            <p:nvPr/>
          </p:nvSpPr>
          <p:spPr>
            <a:xfrm>
              <a:off x="4572000" y="1094825"/>
              <a:ext cx="285300" cy="321100"/>
            </a:xfrm>
            <a:prstGeom prst="flowChartMagneticDisk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xmlns:a="http://schemas.openxmlformats.org/drawingml/2006/main"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 xmlns:a="http://schemas.openxmlformats.org/drawingml/2006/main">
                <a:t/>
              </a:r>
              <a:endParaRPr xmlns:a="http://schemas.openxmlformats.org/drawingml/2006/main"/>
            </a:p>
          </p:txBody>
        </p:sp>
        <p:cxnSp>
          <p:nvCxnSpPr>
            <p:cNvPr id="526" name="Google Shape;526;p35"/>
            <p:cNvCxnSpPr/>
            <p:nvPr/>
          </p:nvCxnSpPr>
          <p:spPr>
            <a:xfrm flipH="1" rot="10800000">
              <a:off x="4459550" y="1228975"/>
              <a:ext cx="146400" cy="2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27" name="Google Shape;527;p35"/>
          <p:cNvSpPr txBox="1"/>
          <p:nvPr/>
        </p:nvSpPr>
        <p:spPr>
          <a:xfrm>
            <a:off x="5715100" y="1550125"/>
            <a:ext cx="2872500" cy="831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Problem: How can redundant data storage be synchronized?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Scalable database systems</a:t>
            </a:r>
            <a:endParaRPr xmlns:a="http://schemas.openxmlformats.org/drawingml/2006/main"/>
          </a:p>
        </p:txBody>
      </p:sp>
      <p:sp>
        <p:nvSpPr>
          <p:cNvPr id="533" name="Google Shape;533;p3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34" name="Google Shape;534;p36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2 categories of scaling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Vertical scaling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b="1" lang="en"/>
              <a:t>Horizontal scaling </a:t>
            </a:r>
            <a:r xmlns:a="http://schemas.openxmlformats.org/drawingml/2006/main">
              <a:rPr lang="en"/>
              <a:t>(-&gt; Microservices)</a:t>
            </a:r>
            <a:endParaRPr xmlns:a="http://schemas.openxmlformats.org/drawingml/2006/main"/>
          </a:p>
        </p:txBody>
      </p:sp>
      <p:sp>
        <p:nvSpPr>
          <p:cNvPr id="535" name="Google Shape;535;p36"/>
          <p:cNvSpPr/>
          <p:nvPr/>
        </p:nvSpPr>
        <p:spPr>
          <a:xfrm>
            <a:off x="1307225" y="1731125"/>
            <a:ext cx="1138500" cy="85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CPU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R.A.M.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Storage</a:t>
            </a:r>
            <a:endParaRPr xmlns:a="http://schemas.openxmlformats.org/drawingml/2006/main"/>
          </a:p>
        </p:txBody>
      </p:sp>
      <p:sp>
        <p:nvSpPr>
          <p:cNvPr id="536" name="Google Shape;536;p36"/>
          <p:cNvSpPr txBox="1"/>
          <p:nvPr/>
        </p:nvSpPr>
        <p:spPr>
          <a:xfrm>
            <a:off x="6310600" y="832025"/>
            <a:ext cx="2352900" cy="400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Limit reached</a:t>
            </a:r>
            <a:endParaRPr xmlns:a="http://schemas.openxmlformats.org/drawingml/2006/main"/>
          </a:p>
        </p:txBody>
      </p:sp>
      <p:cxnSp>
        <p:nvCxnSpPr>
          <p:cNvPr id="537" name="Google Shape;537;p36"/>
          <p:cNvCxnSpPr>
            <a:stCxn id="535" idx="3"/>
          </p:cNvCxnSpPr>
          <p:nvPr/>
        </p:nvCxnSpPr>
        <p:spPr>
          <a:xfrm>
            <a:off x="2445725" y="2157275"/>
            <a:ext cx="9690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8" name="Google Shape;538;p36"/>
          <p:cNvSpPr/>
          <p:nvPr/>
        </p:nvSpPr>
        <p:spPr>
          <a:xfrm>
            <a:off x="3440825" y="1731125"/>
            <a:ext cx="1638000" cy="100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2200"/>
              <a:t>CPU</a:t>
            </a:r>
            <a:endParaRPr xmlns:a="http://schemas.openxmlformats.org/drawingml/2006/main" b="1" sz="2200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2200"/>
              <a:t>R.A.M.</a:t>
            </a:r>
            <a:endParaRPr xmlns:a="http://schemas.openxmlformats.org/drawingml/2006/main" b="1" sz="2200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2200"/>
              <a:t>Storage</a:t>
            </a:r>
            <a:endParaRPr xmlns:a="http://schemas.openxmlformats.org/drawingml/2006/main" b="1" sz="2200"/>
          </a:p>
        </p:txBody>
      </p:sp>
      <p:sp>
        <p:nvSpPr>
          <p:cNvPr id="539" name="Google Shape;539;p36"/>
          <p:cNvSpPr/>
          <p:nvPr/>
        </p:nvSpPr>
        <p:spPr>
          <a:xfrm>
            <a:off x="1978625" y="1661075"/>
            <a:ext cx="496260" cy="1074168"/>
          </a:xfrm>
          <a:prstGeom prst="lightningBol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540" name="Google Shape;540;p36"/>
          <p:cNvSpPr txBox="1"/>
          <p:nvPr/>
        </p:nvSpPr>
        <p:spPr>
          <a:xfrm>
            <a:off x="2550775" y="1742800"/>
            <a:ext cx="786600" cy="323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900"/>
              <a:t>migration</a:t>
            </a:r>
            <a:endParaRPr xmlns:a="http://schemas.openxmlformats.org/drawingml/2006/main" sz="900"/>
          </a:p>
        </p:txBody>
      </p:sp>
      <p:sp>
        <p:nvSpPr>
          <p:cNvPr id="541" name="Google Shape;541;p36"/>
          <p:cNvSpPr/>
          <p:nvPr/>
        </p:nvSpPr>
        <p:spPr>
          <a:xfrm>
            <a:off x="1307225" y="3636125"/>
            <a:ext cx="1138500" cy="85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CPU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R.A.M.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Storage</a:t>
            </a:r>
            <a:endParaRPr xmlns:a="http://schemas.openxmlformats.org/drawingml/2006/main"/>
          </a:p>
        </p:txBody>
      </p:sp>
      <p:sp>
        <p:nvSpPr>
          <p:cNvPr id="542" name="Google Shape;542;p36"/>
          <p:cNvSpPr/>
          <p:nvPr/>
        </p:nvSpPr>
        <p:spPr>
          <a:xfrm>
            <a:off x="3593225" y="3636125"/>
            <a:ext cx="1138500" cy="852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CPU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R.A.M.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Storage</a:t>
            </a:r>
            <a:endParaRPr xmlns:a="http://schemas.openxmlformats.org/drawingml/2006/main"/>
          </a:p>
        </p:txBody>
      </p:sp>
      <p:cxnSp>
        <p:nvCxnSpPr>
          <p:cNvPr id="543" name="Google Shape;543;p36"/>
          <p:cNvCxnSpPr>
            <a:stCxn id="541" idx="3"/>
            <a:endCxn id="542" idx="1"/>
          </p:cNvCxnSpPr>
          <p:nvPr/>
        </p:nvCxnSpPr>
        <p:spPr>
          <a:xfrm>
            <a:off x="2445725" y="4062275"/>
            <a:ext cx="1147500" cy="0"/>
          </a:xfrm>
          <a:prstGeom prst="straightConnector1">
            <a:avLst/>
          </a:prstGeom>
          <a:noFill/>
          <a:ln cap="flat" cmpd="sng" w="9525">
            <a:solidFill>
              <a:srgbClr val="D9EAD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p36"/>
          <p:cNvCxnSpPr/>
          <p:nvPr/>
        </p:nvCxnSpPr>
        <p:spPr>
          <a:xfrm rot="10800000">
            <a:off x="2445725" y="4062275"/>
            <a:ext cx="918900" cy="0"/>
          </a:xfrm>
          <a:prstGeom prst="straightConnector1">
            <a:avLst/>
          </a:prstGeom>
          <a:noFill/>
          <a:ln cap="flat" cmpd="sng" w="9525">
            <a:solidFill>
              <a:srgbClr val="D9EAD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5" name="Google Shape;545;p36"/>
          <p:cNvSpPr txBox="1"/>
          <p:nvPr/>
        </p:nvSpPr>
        <p:spPr>
          <a:xfrm>
            <a:off x="2550775" y="3647800"/>
            <a:ext cx="969000" cy="323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900"/>
              <a:t>Rebalancing</a:t>
            </a:r>
            <a:endParaRPr xmlns:a="http://schemas.openxmlformats.org/drawingml/2006/main" sz="900"/>
          </a:p>
        </p:txBody>
      </p:sp>
      <p:sp>
        <p:nvSpPr>
          <p:cNvPr id="546" name="Google Shape;546;p36"/>
          <p:cNvSpPr txBox="1"/>
          <p:nvPr/>
        </p:nvSpPr>
        <p:spPr>
          <a:xfrm>
            <a:off x="5586650" y="1871250"/>
            <a:ext cx="3374400" cy="831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Migration (almost) inevitably leads to maintenance windows and application downtime</a:t>
            </a:r>
            <a:endParaRPr xmlns:a="http://schemas.openxmlformats.org/drawingml/2006/main"/>
          </a:p>
        </p:txBody>
      </p:sp>
      <p:sp>
        <p:nvSpPr>
          <p:cNvPr id="547" name="Google Shape;547;p36"/>
          <p:cNvSpPr txBox="1"/>
          <p:nvPr/>
        </p:nvSpPr>
        <p:spPr>
          <a:xfrm>
            <a:off x="5586650" y="3700050"/>
            <a:ext cx="3374400" cy="831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Rebalancing requires communication between the individual nodes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Resilience in horizontally scaling systems</a:t>
            </a:r>
            <a:endParaRPr xmlns:a="http://schemas.openxmlformats.org/drawingml/2006/main"/>
          </a:p>
        </p:txBody>
      </p:sp>
      <p:sp>
        <p:nvSpPr>
          <p:cNvPr id="553" name="Google Shape;553;p3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54" name="Google Shape;554;p3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Data replication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A subset of the cluster's nodes contains data replicas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The replicas must be synchronized by the individual nodes (-&gt; Microservices)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This synchronization logic is implemented in the database systems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Gossip Protocol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Anti-entropy algorithms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…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Taking technical constraints into account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In particular, the network between nodes</a:t>
            </a:r>
            <a:endParaRPr xmlns:a="http://schemas.openxmlformats.org/drawingml/2006/main"/>
          </a:p>
          <a:p>
            <a:pPr xmlns:a="http://schemas.openxmlformats.org/drawingml/2006/main"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/>
              <a:t>This does not mean the network between client and database!</a:t>
            </a:r>
            <a:endParaRPr xmlns:a="http://schemas.openxmlformats.org/drawingml/2006/main"/>
          </a:p>
        </p:txBody>
      </p:sp>
      <p:sp>
        <p:nvSpPr>
          <p:cNvPr id="555" name="Google Shape;555;p37"/>
          <p:cNvSpPr txBox="1"/>
          <p:nvPr/>
        </p:nvSpPr>
        <p:spPr>
          <a:xfrm>
            <a:off x="4664225" y="2460350"/>
            <a:ext cx="4425600" cy="61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Caution: Microservices do not have something like this automatically, you have to implement it yourself!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Quality dimensions of distributed data storage</a:t>
            </a:r>
            <a:endParaRPr xmlns:a="http://schemas.openxmlformats.org/drawingml/2006/main"/>
          </a:p>
        </p:txBody>
      </p:sp>
      <p:sp>
        <p:nvSpPr>
          <p:cNvPr id="561" name="Google Shape;561;p38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62" name="Google Shape;562;p38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b="1" lang="en"/>
              <a:t>Consistency</a:t>
            </a:r>
            <a:r xmlns:a="http://schemas.openxmlformats.org/drawingml/2006/main">
              <a:rPr lang="en"/>
              <a:t>​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The overall system of database nodes delivers consistent data at all times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b="1" lang="en"/>
              <a:t>A </a:t>
            </a:r>
            <a:r xmlns:a="http://schemas.openxmlformats.org/drawingml/2006/main">
              <a:rPr lang="en"/>
              <a:t>availability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As soon as a client can communicate with a node in the cluster, the client receives a response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b="1" lang="en"/>
              <a:t>Partition </a:t>
            </a:r>
            <a:r xmlns:a="http://schemas.openxmlformats.org/drawingml/2006/main">
              <a:rPr lang="en"/>
              <a:t>Tolerance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A failure of the network between nodes of the cluster is tolerated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To do</a:t>
            </a:r>
            <a:endParaRPr xmlns:a="http://schemas.openxmlformats.org/drawingml/2006/main"/>
          </a:p>
        </p:txBody>
      </p:sp>
      <p:sp>
        <p:nvSpPr>
          <p:cNvPr id="568" name="Google Shape;568;p39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69" name="Google Shape;569;p39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Can all quality dimensions be met at the same time?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All 3?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b="1" lang="en"/>
              <a:t>2 out of 3 </a:t>
            </a:r>
            <a:r xmlns:a="http://schemas.openxmlformats.org/drawingml/2006/main">
              <a:rPr lang="en"/>
              <a:t>?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Only 1?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From an application architecture perspective: What do you think is the “most important” quality dimension?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b="1" lang="en"/>
              <a:t>Availability</a:t>
            </a:r>
            <a:endParaRPr xmlns:a="http://schemas.openxmlformats.org/drawingml/2006/main" b="1"/>
          </a:p>
          <a:p>
            <a:pPr xmlns:a="http://schemas.openxmlformats.org/drawingml/2006/main"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 sz="1600"/>
              <a:t>Consistency</a:t>
            </a:r>
            <a:endParaRPr xmlns:a="http://schemas.openxmlformats.org/drawingml/2006/main" sz="1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Technical additional condition</a:t>
            </a:r>
            <a:endParaRPr xmlns:a="http://schemas.openxmlformats.org/drawingml/2006/main"/>
          </a:p>
        </p:txBody>
      </p:sp>
      <p:sp>
        <p:nvSpPr>
          <p:cNvPr id="575" name="Google Shape;575;p4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76" name="Google Shape;576;p40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Thesis: Partition errors are unavoidable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Thesis: Detecting partition errors is not trivial at all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This leaves CAP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C.P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b="1" lang="en"/>
              <a:t>AP</a:t>
            </a:r>
            <a:endParaRPr xmlns:a="http://schemas.openxmlformats.org/drawingml/2006/main" b="1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b="1" lang="en"/>
              <a:t>“Consistency doesn’t matter” -&gt; nonsense</a:t>
            </a:r>
            <a:endParaRPr xmlns:a="http://schemas.openxmlformats.org/drawingml/2006/main" b="1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b="1" lang="en"/>
              <a:t>Consistency at any given time is unattainable</a:t>
            </a:r>
            <a:endParaRPr xmlns:a="http://schemas.openxmlformats.org/drawingml/2006/main" b="1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b="1" lang="en"/>
              <a:t>BASE architecture</a:t>
            </a:r>
            <a:endParaRPr xmlns:a="http://schemas.openxmlformats.org/drawingml/2006/main" b="1"/>
          </a:p>
          <a:p>
            <a:pPr xmlns:a="http://schemas.openxmlformats.org/drawingml/2006/main"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b="1" lang="en"/>
              <a:t>Basic Availability</a:t>
            </a:r>
            <a:endParaRPr xmlns:a="http://schemas.openxmlformats.org/drawingml/2006/main" b="1"/>
          </a:p>
          <a:p>
            <a:pPr xmlns:a="http://schemas.openxmlformats.org/drawingml/2006/main"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b="1" lang="en"/>
              <a:t>Soft state</a:t>
            </a:r>
            <a:endParaRPr xmlns:a="http://schemas.openxmlformats.org/drawingml/2006/main" b="1"/>
          </a:p>
          <a:p>
            <a:pPr xmlns:a="http://schemas.openxmlformats.org/drawingml/2006/main"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b="1" lang="en"/>
              <a:t>Eventual consistency</a:t>
            </a:r>
            <a:endParaRPr xmlns:a="http://schemas.openxmlformats.org/drawingml/2006/main" b="1"/>
          </a:p>
          <a:p>
            <a:pPr xmlns:a="http://schemas.openxmlformats.org/drawingml/2006/main" indent="-304800" lvl="4" marL="22860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 xmlns:a="http://schemas.openxmlformats.org/drawingml/2006/main">
              <a:rPr b="1" lang="en"/>
              <a:t>Eventual = Eventually, time windows of inconsistency are possible, but the system will “eventually be consistent”</a:t>
            </a:r>
            <a:endParaRPr xmlns:a="http://schemas.openxmlformats.org/drawingml/2006/main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Related to microservices</a:t>
            </a:r>
            <a:endParaRPr xmlns:a="http://schemas.openxmlformats.org/drawingml/2006/main"/>
          </a:p>
        </p:txBody>
      </p:sp>
      <p:sp>
        <p:nvSpPr>
          <p:cNvPr id="582" name="Google Shape;582;p4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83" name="Google Shape;583;p41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Horizontally scalable database systems consist of equivalent nodes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A microservice corresponds to a node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“All nodes are different”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Data replication keeps the same data on different nodes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Microservices introduce redundant data storage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Each microservice holds the data that its algorithms need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Database systems are usually BASE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Microservices too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Database systems implement eventual consistency internally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Microservices: MUST BE IMPLEMENTED YOURSELF!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89" name="Google Shape;589;p4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590" name="Google Shape;590;p42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Microservices and BASE architecture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Orchestration of microservice calls</a:t>
            </a:r>
            <a:endParaRPr xmlns:a="http://schemas.openxmlformats.org/drawingml/2006/main"/>
          </a:p>
        </p:txBody>
      </p:sp>
      <p:sp>
        <p:nvSpPr>
          <p:cNvPr id="596" name="Google Shape;596;p4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97" name="Google Shape;597;p43"/>
          <p:cNvSpPr/>
          <p:nvPr/>
        </p:nvSpPr>
        <p:spPr>
          <a:xfrm>
            <a:off x="204500" y="2286845"/>
            <a:ext cx="6222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598" name="Google Shape;598;p43"/>
          <p:cNvSpPr/>
          <p:nvPr/>
        </p:nvSpPr>
        <p:spPr>
          <a:xfrm>
            <a:off x="3339149" y="943900"/>
            <a:ext cx="5604600" cy="157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Microservice1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e.g. create, query and </a:t>
            </a:r>
            <a:r xmlns:a="http://schemas.openxmlformats.org/drawingml/2006/main">
              <a:rPr lang="en">
                <a:highlight>
                  <a:srgbClr val="00FFFF"/>
                </a:highlight>
              </a:rPr>
              <a:t>pay invoices</a:t>
            </a:r>
            <a:endParaRPr xmlns:a="http://schemas.openxmlformats.org/drawingml/2006/main">
              <a:highlight>
                <a:srgbClr val="00FFFF"/>
              </a:highlight>
            </a:endParaRPr>
          </a:p>
        </p:txBody>
      </p:sp>
      <p:sp>
        <p:nvSpPr>
          <p:cNvPr id="599" name="Google Shape;599;p43"/>
          <p:cNvSpPr/>
          <p:nvPr/>
        </p:nvSpPr>
        <p:spPr>
          <a:xfrm>
            <a:off x="4926107" y="1216813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600" name="Google Shape;600;p43"/>
          <p:cNvSpPr/>
          <p:nvPr/>
        </p:nvSpPr>
        <p:spPr>
          <a:xfrm>
            <a:off x="3339350" y="2696350"/>
            <a:ext cx="5552100" cy="99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Microservice2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e.g. reminder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601" name="Google Shape;601;p43"/>
          <p:cNvSpPr/>
          <p:nvPr/>
        </p:nvSpPr>
        <p:spPr>
          <a:xfrm>
            <a:off x="4926043" y="3259059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602" name="Google Shape;602;p43"/>
          <p:cNvSpPr/>
          <p:nvPr/>
        </p:nvSpPr>
        <p:spPr>
          <a:xfrm>
            <a:off x="2831355" y="1192038"/>
            <a:ext cx="552600" cy="22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603" name="Google Shape;603;p43"/>
          <p:cNvCxnSpPr>
            <a:stCxn id="599" idx="1"/>
            <a:endCxn id="602" idx="3"/>
          </p:cNvCxnSpPr>
          <p:nvPr/>
        </p:nvCxnSpPr>
        <p:spPr>
          <a:xfrm rot="10800000">
            <a:off x="3383807" y="1305163"/>
            <a:ext cx="1542300" cy="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4" name="Google Shape;604;p43"/>
          <p:cNvSpPr/>
          <p:nvPr/>
        </p:nvSpPr>
        <p:spPr>
          <a:xfrm>
            <a:off x="2796620" y="3219512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605" name="Google Shape;605;p43"/>
          <p:cNvCxnSpPr>
            <a:stCxn id="601" idx="1"/>
            <a:endCxn id="604" idx="3"/>
          </p:cNvCxnSpPr>
          <p:nvPr/>
        </p:nvCxnSpPr>
        <p:spPr>
          <a:xfrm rot="10800000">
            <a:off x="3418543" y="3332709"/>
            <a:ext cx="15075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6" name="Google Shape;606;p43"/>
          <p:cNvSpPr/>
          <p:nvPr/>
        </p:nvSpPr>
        <p:spPr>
          <a:xfrm>
            <a:off x="3339224" y="3827650"/>
            <a:ext cx="5657100" cy="80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Microservice3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607" name="Google Shape;607;p43"/>
          <p:cNvSpPr/>
          <p:nvPr/>
        </p:nvSpPr>
        <p:spPr>
          <a:xfrm>
            <a:off x="4926043" y="4200807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608" name="Google Shape;608;p43"/>
          <p:cNvSpPr/>
          <p:nvPr/>
        </p:nvSpPr>
        <p:spPr>
          <a:xfrm>
            <a:off x="2976395" y="4197585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609" name="Google Shape;609;p43"/>
          <p:cNvCxnSpPr>
            <a:stCxn id="607" idx="1"/>
            <a:endCxn id="608" idx="3"/>
          </p:cNvCxnSpPr>
          <p:nvPr/>
        </p:nvCxnSpPr>
        <p:spPr>
          <a:xfrm rot="10800000">
            <a:off x="3598543" y="4310757"/>
            <a:ext cx="1327500" cy="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0" name="Google Shape;610;p43"/>
          <p:cNvSpPr/>
          <p:nvPr/>
        </p:nvSpPr>
        <p:spPr>
          <a:xfrm>
            <a:off x="8023934" y="1062115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611" name="Google Shape;611;p43"/>
          <p:cNvSpPr/>
          <p:nvPr/>
        </p:nvSpPr>
        <p:spPr>
          <a:xfrm>
            <a:off x="8023934" y="18272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REG</a:t>
            </a:r>
            <a:endParaRPr xmlns:a="http://schemas.openxmlformats.org/drawingml/2006/main"/>
          </a:p>
        </p:txBody>
      </p:sp>
      <p:sp>
        <p:nvSpPr>
          <p:cNvPr id="612" name="Google Shape;612;p43"/>
          <p:cNvSpPr/>
          <p:nvPr/>
        </p:nvSpPr>
        <p:spPr>
          <a:xfrm>
            <a:off x="7977209" y="3971436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613" name="Google Shape;613;p43"/>
          <p:cNvCxnSpPr>
            <a:stCxn id="599" idx="3"/>
            <a:endCxn id="610" idx="2"/>
          </p:cNvCxnSpPr>
          <p:nvPr/>
        </p:nvCxnSpPr>
        <p:spPr>
          <a:xfrm flipH="1" rot="10800000">
            <a:off x="6130907" y="1352863"/>
            <a:ext cx="1893000" cy="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43"/>
          <p:cNvCxnSpPr>
            <a:stCxn id="599" idx="3"/>
            <a:endCxn id="611" idx="2"/>
          </p:cNvCxnSpPr>
          <p:nvPr/>
        </p:nvCxnSpPr>
        <p:spPr>
          <a:xfrm>
            <a:off x="6130907" y="1400863"/>
            <a:ext cx="1893000" cy="7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5" name="Google Shape;615;p43"/>
          <p:cNvCxnSpPr>
            <a:stCxn id="607" idx="3"/>
            <a:endCxn id="612" idx="2"/>
          </p:cNvCxnSpPr>
          <p:nvPr/>
        </p:nvCxnSpPr>
        <p:spPr>
          <a:xfrm flipH="1" rot="10800000">
            <a:off x="6130843" y="4262157"/>
            <a:ext cx="1846500" cy="1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6" name="Google Shape;616;p43"/>
          <p:cNvSpPr/>
          <p:nvPr/>
        </p:nvSpPr>
        <p:spPr>
          <a:xfrm>
            <a:off x="8023934" y="28940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DUNN</a:t>
            </a:r>
            <a:endParaRPr xmlns:a="http://schemas.openxmlformats.org/drawingml/2006/main"/>
          </a:p>
        </p:txBody>
      </p:sp>
      <p:cxnSp>
        <p:nvCxnSpPr>
          <p:cNvPr id="617" name="Google Shape;617;p43"/>
          <p:cNvCxnSpPr>
            <a:stCxn id="601" idx="3"/>
            <a:endCxn id="616" idx="2"/>
          </p:cNvCxnSpPr>
          <p:nvPr/>
        </p:nvCxnSpPr>
        <p:spPr>
          <a:xfrm flipH="1" rot="10800000">
            <a:off x="6130843" y="3184809"/>
            <a:ext cx="1893000" cy="25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8" name="Google Shape;618;p43"/>
          <p:cNvCxnSpPr>
            <a:stCxn id="597" idx="3"/>
            <a:endCxn id="602" idx="1"/>
          </p:cNvCxnSpPr>
          <p:nvPr/>
        </p:nvCxnSpPr>
        <p:spPr>
          <a:xfrm flipH="1" rot="10800000">
            <a:off x="826700" y="1305095"/>
            <a:ext cx="2004600" cy="11865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9" name="Google Shape;619;p43"/>
          <p:cNvCxnSpPr>
            <a:stCxn id="597" idx="3"/>
            <a:endCxn id="604" idx="1"/>
          </p:cNvCxnSpPr>
          <p:nvPr/>
        </p:nvCxnSpPr>
        <p:spPr>
          <a:xfrm>
            <a:off x="826700" y="2491595"/>
            <a:ext cx="1969800" cy="8409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Excursus: BASE vs ACID</a:t>
            </a:r>
            <a:endParaRPr xmlns:a="http://schemas.openxmlformats.org/drawingml/2006/main"/>
          </a:p>
        </p:txBody>
      </p:sp>
      <p:sp>
        <p:nvSpPr>
          <p:cNvPr id="625" name="Google Shape;625;p4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26" name="Google Shape;626;p44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ACID transactions avoid inconsistencies through atomic commit/rollback at the database level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“Local” transactions within a single database instance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Actually trivial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XA transactions with 2 phase commit protocol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For this purpose, a so-called XID is used, which makes transactions identifiable in the individual database systems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Microservices and ACID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pic>
        <p:nvPicPr>
          <p:cNvPr id="627" name="Google Shape;62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5475" y="3221900"/>
            <a:ext cx="2107626" cy="642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44"/>
          <p:cNvSpPr txBox="1"/>
          <p:nvPr/>
        </p:nvSpPr>
        <p:spPr>
          <a:xfrm>
            <a:off x="4086225" y="3324975"/>
            <a:ext cx="4991700" cy="3693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200"/>
              <a:t>ACID within a microservice is “normal” programming</a:t>
            </a:r>
            <a:endParaRPr xmlns:a="http://schemas.openxmlformats.org/drawingml/2006/main" sz="1200"/>
          </a:p>
        </p:txBody>
      </p:sp>
      <p:pic>
        <p:nvPicPr>
          <p:cNvPr id="629" name="Google Shape;62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6300" y="3893475"/>
            <a:ext cx="2136800" cy="907881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4"/>
          <p:cNvSpPr txBox="1"/>
          <p:nvPr/>
        </p:nvSpPr>
        <p:spPr>
          <a:xfrm>
            <a:off x="4086225" y="4086975"/>
            <a:ext cx="4991700" cy="554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200"/>
              <a:t>ACID microservice call-across: forget that</a:t>
            </a:r>
            <a:endParaRPr xmlns:a="http://schemas.openxmlformats.org/drawingml/2006/main" sz="1200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200"/>
              <a:t>Instead: compensation actions</a:t>
            </a:r>
            <a:endParaRPr xmlns:a="http://schemas.openxmlformats.org/drawingml/2006/main" sz="1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Interaction between microservices to align redundancies</a:t>
            </a:r>
            <a:endParaRPr xmlns:a="http://schemas.openxmlformats.org/drawingml/2006/main"/>
          </a:p>
        </p:txBody>
      </p:sp>
      <p:sp>
        <p:nvSpPr>
          <p:cNvPr id="636" name="Google Shape;636;p45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37" name="Google Shape;637;p45"/>
          <p:cNvSpPr/>
          <p:nvPr/>
        </p:nvSpPr>
        <p:spPr>
          <a:xfrm>
            <a:off x="204500" y="2286845"/>
            <a:ext cx="6222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638" name="Google Shape;638;p45"/>
          <p:cNvSpPr/>
          <p:nvPr/>
        </p:nvSpPr>
        <p:spPr>
          <a:xfrm>
            <a:off x="3339149" y="943900"/>
            <a:ext cx="5604600" cy="157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Microservice1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e.g. create, query and </a:t>
            </a:r>
            <a:r xmlns:a="http://schemas.openxmlformats.org/drawingml/2006/main">
              <a:rPr lang="en">
                <a:highlight>
                  <a:srgbClr val="00FFFF"/>
                </a:highlight>
              </a:rPr>
              <a:t>pay invoices</a:t>
            </a:r>
            <a:endParaRPr xmlns:a="http://schemas.openxmlformats.org/drawingml/2006/main">
              <a:highlight>
                <a:srgbClr val="00FFFF"/>
              </a:highlight>
            </a:endParaRPr>
          </a:p>
        </p:txBody>
      </p:sp>
      <p:cxnSp>
        <p:nvCxnSpPr>
          <p:cNvPr id="639" name="Google Shape;639;p45"/>
          <p:cNvCxnSpPr>
            <a:stCxn id="637" idx="3"/>
            <a:endCxn id="640" idx="1"/>
          </p:cNvCxnSpPr>
          <p:nvPr/>
        </p:nvCxnSpPr>
        <p:spPr>
          <a:xfrm flipH="1" rot="10800000">
            <a:off x="826700" y="1305095"/>
            <a:ext cx="2004600" cy="11865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1" name="Google Shape;641;p45"/>
          <p:cNvSpPr/>
          <p:nvPr/>
        </p:nvSpPr>
        <p:spPr>
          <a:xfrm>
            <a:off x="4926107" y="1216813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642" name="Google Shape;642;p45"/>
          <p:cNvSpPr/>
          <p:nvPr/>
        </p:nvSpPr>
        <p:spPr>
          <a:xfrm>
            <a:off x="3339350" y="2696350"/>
            <a:ext cx="5552100" cy="99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Microservice2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e.g. reminder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643" name="Google Shape;643;p45"/>
          <p:cNvSpPr/>
          <p:nvPr/>
        </p:nvSpPr>
        <p:spPr>
          <a:xfrm>
            <a:off x="4926043" y="3259059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640" name="Google Shape;640;p45"/>
          <p:cNvSpPr/>
          <p:nvPr/>
        </p:nvSpPr>
        <p:spPr>
          <a:xfrm>
            <a:off x="2831355" y="1192038"/>
            <a:ext cx="552600" cy="22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644" name="Google Shape;644;p45"/>
          <p:cNvCxnSpPr>
            <a:stCxn id="641" idx="1"/>
            <a:endCxn id="640" idx="3"/>
          </p:cNvCxnSpPr>
          <p:nvPr/>
        </p:nvCxnSpPr>
        <p:spPr>
          <a:xfrm rot="10800000">
            <a:off x="3383807" y="1305163"/>
            <a:ext cx="1542300" cy="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5" name="Google Shape;645;p45"/>
          <p:cNvSpPr/>
          <p:nvPr/>
        </p:nvSpPr>
        <p:spPr>
          <a:xfrm>
            <a:off x="2796620" y="3219512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646" name="Google Shape;646;p45"/>
          <p:cNvCxnSpPr>
            <a:stCxn id="643" idx="1"/>
            <a:endCxn id="645" idx="3"/>
          </p:cNvCxnSpPr>
          <p:nvPr/>
        </p:nvCxnSpPr>
        <p:spPr>
          <a:xfrm rot="10800000">
            <a:off x="3418543" y="3332709"/>
            <a:ext cx="15075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7" name="Google Shape;647;p45"/>
          <p:cNvSpPr/>
          <p:nvPr/>
        </p:nvSpPr>
        <p:spPr>
          <a:xfrm>
            <a:off x="3339224" y="3827650"/>
            <a:ext cx="5657100" cy="80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Microservice3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648" name="Google Shape;648;p45"/>
          <p:cNvSpPr/>
          <p:nvPr/>
        </p:nvSpPr>
        <p:spPr>
          <a:xfrm>
            <a:off x="4926043" y="4200807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649" name="Google Shape;649;p45"/>
          <p:cNvSpPr/>
          <p:nvPr/>
        </p:nvSpPr>
        <p:spPr>
          <a:xfrm>
            <a:off x="2976395" y="4197585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650" name="Google Shape;650;p45"/>
          <p:cNvCxnSpPr>
            <a:stCxn id="648" idx="1"/>
            <a:endCxn id="649" idx="3"/>
          </p:cNvCxnSpPr>
          <p:nvPr/>
        </p:nvCxnSpPr>
        <p:spPr>
          <a:xfrm rot="10800000">
            <a:off x="3598543" y="4310757"/>
            <a:ext cx="1327500" cy="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1" name="Google Shape;651;p45"/>
          <p:cNvSpPr/>
          <p:nvPr/>
        </p:nvSpPr>
        <p:spPr>
          <a:xfrm>
            <a:off x="8023934" y="1062115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652" name="Google Shape;652;p45"/>
          <p:cNvSpPr/>
          <p:nvPr/>
        </p:nvSpPr>
        <p:spPr>
          <a:xfrm>
            <a:off x="8023934" y="16748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REG</a:t>
            </a:r>
            <a:endParaRPr xmlns:a="http://schemas.openxmlformats.org/drawingml/2006/main"/>
          </a:p>
        </p:txBody>
      </p:sp>
      <p:sp>
        <p:nvSpPr>
          <p:cNvPr id="653" name="Google Shape;653;p45"/>
          <p:cNvSpPr/>
          <p:nvPr/>
        </p:nvSpPr>
        <p:spPr>
          <a:xfrm>
            <a:off x="7977209" y="3971436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654" name="Google Shape;654;p45"/>
          <p:cNvCxnSpPr>
            <a:stCxn id="641" idx="3"/>
            <a:endCxn id="651" idx="2"/>
          </p:cNvCxnSpPr>
          <p:nvPr/>
        </p:nvCxnSpPr>
        <p:spPr>
          <a:xfrm flipH="1" rot="10800000">
            <a:off x="6130907" y="1352863"/>
            <a:ext cx="1893000" cy="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5" name="Google Shape;655;p45"/>
          <p:cNvCxnSpPr>
            <a:stCxn id="641" idx="3"/>
            <a:endCxn id="652" idx="2"/>
          </p:cNvCxnSpPr>
          <p:nvPr/>
        </p:nvCxnSpPr>
        <p:spPr>
          <a:xfrm>
            <a:off x="6130907" y="1400863"/>
            <a:ext cx="1893000" cy="56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6" name="Google Shape;656;p45"/>
          <p:cNvCxnSpPr>
            <a:stCxn id="648" idx="3"/>
            <a:endCxn id="653" idx="2"/>
          </p:cNvCxnSpPr>
          <p:nvPr/>
        </p:nvCxnSpPr>
        <p:spPr>
          <a:xfrm flipH="1" rot="10800000">
            <a:off x="6130843" y="4262157"/>
            <a:ext cx="1846500" cy="1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7" name="Google Shape;657;p45"/>
          <p:cNvSpPr/>
          <p:nvPr/>
        </p:nvSpPr>
        <p:spPr>
          <a:xfrm>
            <a:off x="8023934" y="28940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DUNN</a:t>
            </a:r>
            <a:endParaRPr xmlns:a="http://schemas.openxmlformats.org/drawingml/2006/main"/>
          </a:p>
        </p:txBody>
      </p:sp>
      <p:cxnSp>
        <p:nvCxnSpPr>
          <p:cNvPr id="658" name="Google Shape;658;p45"/>
          <p:cNvCxnSpPr>
            <a:stCxn id="643" idx="3"/>
            <a:endCxn id="657" idx="2"/>
          </p:cNvCxnSpPr>
          <p:nvPr/>
        </p:nvCxnSpPr>
        <p:spPr>
          <a:xfrm flipH="1" rot="10800000">
            <a:off x="6130843" y="3184809"/>
            <a:ext cx="1893000" cy="25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9" name="Google Shape;659;p45"/>
          <p:cNvCxnSpPr>
            <a:stCxn id="641" idx="2"/>
            <a:endCxn id="660" idx="0"/>
          </p:cNvCxnSpPr>
          <p:nvPr/>
        </p:nvCxnSpPr>
        <p:spPr>
          <a:xfrm>
            <a:off x="5528507" y="1584913"/>
            <a:ext cx="545700" cy="10608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0" name="Google Shape;660;p45"/>
          <p:cNvSpPr/>
          <p:nvPr/>
        </p:nvSpPr>
        <p:spPr>
          <a:xfrm>
            <a:off x="4862725" y="2645675"/>
            <a:ext cx="2422800" cy="2262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Update/Query API</a:t>
            </a:r>
            <a:endParaRPr xmlns:a="http://schemas.openxmlformats.org/drawingml/2006/main"/>
          </a:p>
        </p:txBody>
      </p:sp>
      <p:cxnSp>
        <p:nvCxnSpPr>
          <p:cNvPr id="661" name="Google Shape;661;p45"/>
          <p:cNvCxnSpPr>
            <a:stCxn id="662" idx="3"/>
            <a:endCxn id="657" idx="2"/>
          </p:cNvCxnSpPr>
          <p:nvPr/>
        </p:nvCxnSpPr>
        <p:spPr>
          <a:xfrm>
            <a:off x="6177025" y="2985375"/>
            <a:ext cx="1846800" cy="1995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2" name="Google Shape;662;p45"/>
          <p:cNvSpPr/>
          <p:nvPr/>
        </p:nvSpPr>
        <p:spPr>
          <a:xfrm>
            <a:off x="5015125" y="2898825"/>
            <a:ext cx="1161900" cy="1731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sp>
        <p:nvSpPr>
          <p:cNvPr id="663" name="Google Shape;663;p45"/>
          <p:cNvSpPr/>
          <p:nvPr/>
        </p:nvSpPr>
        <p:spPr>
          <a:xfrm>
            <a:off x="6081925" y="2340875"/>
            <a:ext cx="2422800" cy="2262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Update/Query API</a:t>
            </a:r>
            <a:endParaRPr xmlns:a="http://schemas.openxmlformats.org/drawingml/2006/main"/>
          </a:p>
        </p:txBody>
      </p:sp>
      <p:sp>
        <p:nvSpPr>
          <p:cNvPr id="664" name="Google Shape;664;p45"/>
          <p:cNvSpPr/>
          <p:nvPr/>
        </p:nvSpPr>
        <p:spPr>
          <a:xfrm>
            <a:off x="6386725" y="2213025"/>
            <a:ext cx="1161900" cy="1731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665" name="Google Shape;665;p45"/>
          <p:cNvCxnSpPr>
            <a:stCxn id="664" idx="3"/>
            <a:endCxn id="652" idx="2"/>
          </p:cNvCxnSpPr>
          <p:nvPr/>
        </p:nvCxnSpPr>
        <p:spPr>
          <a:xfrm flipH="1" rot="10800000">
            <a:off x="7548625" y="1965675"/>
            <a:ext cx="475200" cy="3339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6" name="Google Shape;666;p45"/>
          <p:cNvCxnSpPr>
            <a:stCxn id="652" idx="2"/>
            <a:endCxn id="664" idx="3"/>
          </p:cNvCxnSpPr>
          <p:nvPr/>
        </p:nvCxnSpPr>
        <p:spPr>
          <a:xfrm flipH="1">
            <a:off x="7548734" y="1965754"/>
            <a:ext cx="475200" cy="3339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Event-driven architecture</a:t>
            </a:r>
            <a:endParaRPr xmlns:a="http://schemas.openxmlformats.org/drawingml/2006/main"/>
          </a:p>
        </p:txBody>
      </p:sp>
      <p:sp>
        <p:nvSpPr>
          <p:cNvPr id="672" name="Google Shape;672;p4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73" name="Google Shape;673;p46"/>
          <p:cNvSpPr/>
          <p:nvPr/>
        </p:nvSpPr>
        <p:spPr>
          <a:xfrm>
            <a:off x="204500" y="2286845"/>
            <a:ext cx="622200" cy="4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674" name="Google Shape;674;p46"/>
          <p:cNvSpPr/>
          <p:nvPr/>
        </p:nvSpPr>
        <p:spPr>
          <a:xfrm>
            <a:off x="1967549" y="943900"/>
            <a:ext cx="5604600" cy="157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Microservice1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e.g. create, query and </a:t>
            </a:r>
            <a:r xmlns:a="http://schemas.openxmlformats.org/drawingml/2006/main">
              <a:rPr lang="en">
                <a:highlight>
                  <a:srgbClr val="00FFFF"/>
                </a:highlight>
              </a:rPr>
              <a:t>pay invoices</a:t>
            </a:r>
            <a:endParaRPr xmlns:a="http://schemas.openxmlformats.org/drawingml/2006/main">
              <a:highlight>
                <a:srgbClr val="00FFFF"/>
              </a:highlight>
            </a:endParaRPr>
          </a:p>
        </p:txBody>
      </p:sp>
      <p:sp>
        <p:nvSpPr>
          <p:cNvPr id="675" name="Google Shape;675;p46"/>
          <p:cNvSpPr/>
          <p:nvPr/>
        </p:nvSpPr>
        <p:spPr>
          <a:xfrm>
            <a:off x="3554507" y="1216813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676" name="Google Shape;676;p46"/>
          <p:cNvSpPr/>
          <p:nvPr/>
        </p:nvSpPr>
        <p:spPr>
          <a:xfrm>
            <a:off x="1967750" y="2696350"/>
            <a:ext cx="5552100" cy="99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Microservice2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e.g. reminder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677" name="Google Shape;677;p46"/>
          <p:cNvSpPr/>
          <p:nvPr/>
        </p:nvSpPr>
        <p:spPr>
          <a:xfrm>
            <a:off x="3554443" y="3259059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678" name="Google Shape;678;p46"/>
          <p:cNvSpPr/>
          <p:nvPr/>
        </p:nvSpPr>
        <p:spPr>
          <a:xfrm>
            <a:off x="1459755" y="1192038"/>
            <a:ext cx="552600" cy="22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679" name="Google Shape;679;p46"/>
          <p:cNvCxnSpPr>
            <a:stCxn id="675" idx="1"/>
            <a:endCxn id="678" idx="3"/>
          </p:cNvCxnSpPr>
          <p:nvPr/>
        </p:nvCxnSpPr>
        <p:spPr>
          <a:xfrm rot="10800000">
            <a:off x="2012207" y="1305163"/>
            <a:ext cx="1542300" cy="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0" name="Google Shape;680;p46"/>
          <p:cNvSpPr/>
          <p:nvPr/>
        </p:nvSpPr>
        <p:spPr>
          <a:xfrm>
            <a:off x="1425020" y="3219512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681" name="Google Shape;681;p46"/>
          <p:cNvCxnSpPr>
            <a:stCxn id="677" idx="1"/>
            <a:endCxn id="680" idx="3"/>
          </p:cNvCxnSpPr>
          <p:nvPr/>
        </p:nvCxnSpPr>
        <p:spPr>
          <a:xfrm rot="10800000">
            <a:off x="2046943" y="3332709"/>
            <a:ext cx="15075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2" name="Google Shape;682;p46"/>
          <p:cNvSpPr/>
          <p:nvPr/>
        </p:nvSpPr>
        <p:spPr>
          <a:xfrm>
            <a:off x="1967624" y="3827650"/>
            <a:ext cx="5657100" cy="80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Microservice3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683" name="Google Shape;683;p46"/>
          <p:cNvSpPr/>
          <p:nvPr/>
        </p:nvSpPr>
        <p:spPr>
          <a:xfrm>
            <a:off x="3554443" y="4200807"/>
            <a:ext cx="1204800" cy="368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Algorithms</a:t>
            </a:r>
            <a:endParaRPr xmlns:a="http://schemas.openxmlformats.org/drawingml/2006/main"/>
          </a:p>
        </p:txBody>
      </p:sp>
      <p:sp>
        <p:nvSpPr>
          <p:cNvPr id="684" name="Google Shape;684;p46"/>
          <p:cNvSpPr/>
          <p:nvPr/>
        </p:nvSpPr>
        <p:spPr>
          <a:xfrm>
            <a:off x="1604795" y="4197585"/>
            <a:ext cx="622052" cy="22616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cxnSp>
        <p:nvCxnSpPr>
          <p:cNvPr id="685" name="Google Shape;685;p46"/>
          <p:cNvCxnSpPr>
            <a:stCxn id="683" idx="1"/>
            <a:endCxn id="684" idx="3"/>
          </p:cNvCxnSpPr>
          <p:nvPr/>
        </p:nvCxnSpPr>
        <p:spPr>
          <a:xfrm rot="10800000">
            <a:off x="2226943" y="4310757"/>
            <a:ext cx="1327500" cy="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6" name="Google Shape;686;p46"/>
          <p:cNvSpPr/>
          <p:nvPr/>
        </p:nvSpPr>
        <p:spPr>
          <a:xfrm>
            <a:off x="6652334" y="1062115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687" name="Google Shape;687;p46"/>
          <p:cNvSpPr/>
          <p:nvPr/>
        </p:nvSpPr>
        <p:spPr>
          <a:xfrm>
            <a:off x="6652334" y="18272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REG</a:t>
            </a:r>
            <a:endParaRPr xmlns:a="http://schemas.openxmlformats.org/drawingml/2006/main"/>
          </a:p>
        </p:txBody>
      </p:sp>
      <p:sp>
        <p:nvSpPr>
          <p:cNvPr id="688" name="Google Shape;688;p46"/>
          <p:cNvSpPr/>
          <p:nvPr/>
        </p:nvSpPr>
        <p:spPr>
          <a:xfrm>
            <a:off x="6605609" y="3971436"/>
            <a:ext cx="760994" cy="581737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689" name="Google Shape;689;p46"/>
          <p:cNvCxnSpPr>
            <a:stCxn id="675" idx="3"/>
            <a:endCxn id="686" idx="2"/>
          </p:cNvCxnSpPr>
          <p:nvPr/>
        </p:nvCxnSpPr>
        <p:spPr>
          <a:xfrm flipH="1" rot="10800000">
            <a:off x="4759307" y="1352863"/>
            <a:ext cx="1893000" cy="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0" name="Google Shape;690;p46"/>
          <p:cNvCxnSpPr>
            <a:stCxn id="675" idx="3"/>
            <a:endCxn id="687" idx="2"/>
          </p:cNvCxnSpPr>
          <p:nvPr/>
        </p:nvCxnSpPr>
        <p:spPr>
          <a:xfrm>
            <a:off x="4759307" y="1400863"/>
            <a:ext cx="1893000" cy="7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1" name="Google Shape;691;p46"/>
          <p:cNvCxnSpPr>
            <a:stCxn id="683" idx="3"/>
            <a:endCxn id="688" idx="2"/>
          </p:cNvCxnSpPr>
          <p:nvPr/>
        </p:nvCxnSpPr>
        <p:spPr>
          <a:xfrm flipH="1" rot="10800000">
            <a:off x="4759243" y="4262157"/>
            <a:ext cx="1846500" cy="1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2" name="Google Shape;692;p46"/>
          <p:cNvSpPr/>
          <p:nvPr/>
        </p:nvSpPr>
        <p:spPr>
          <a:xfrm>
            <a:off x="6652334" y="2894085"/>
            <a:ext cx="760994" cy="581737"/>
          </a:xfrm>
          <a:prstGeom prst="flowChartMagneticDisk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DUNN</a:t>
            </a:r>
            <a:endParaRPr xmlns:a="http://schemas.openxmlformats.org/drawingml/2006/main"/>
          </a:p>
        </p:txBody>
      </p:sp>
      <p:cxnSp>
        <p:nvCxnSpPr>
          <p:cNvPr id="693" name="Google Shape;693;p46"/>
          <p:cNvCxnSpPr>
            <a:stCxn id="677" idx="3"/>
            <a:endCxn id="692" idx="2"/>
          </p:cNvCxnSpPr>
          <p:nvPr/>
        </p:nvCxnSpPr>
        <p:spPr>
          <a:xfrm flipH="1" rot="10800000">
            <a:off x="4759243" y="3184809"/>
            <a:ext cx="1893000" cy="25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4" name="Google Shape;694;p46"/>
          <p:cNvSpPr/>
          <p:nvPr/>
        </p:nvSpPr>
        <p:spPr>
          <a:xfrm>
            <a:off x="7773775" y="738625"/>
            <a:ext cx="1327500" cy="38918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Event bus</a:t>
            </a:r>
            <a:endParaRPr xmlns:a="http://schemas.openxmlformats.org/drawingml/2006/main"/>
          </a:p>
        </p:txBody>
      </p:sp>
      <p:sp>
        <p:nvSpPr>
          <p:cNvPr id="695" name="Google Shape;695;p46"/>
          <p:cNvSpPr/>
          <p:nvPr/>
        </p:nvSpPr>
        <p:spPr>
          <a:xfrm>
            <a:off x="7840050" y="2694425"/>
            <a:ext cx="1204800" cy="226200"/>
          </a:xfrm>
          <a:prstGeom prst="flowChartMagneticDrum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800"/>
              <a:t>topic</a:t>
            </a:r>
            <a:endParaRPr xmlns:a="http://schemas.openxmlformats.org/drawingml/2006/main" sz="800"/>
          </a:p>
        </p:txBody>
      </p:sp>
      <p:sp>
        <p:nvSpPr>
          <p:cNvPr id="696" name="Google Shape;696;p46"/>
          <p:cNvSpPr/>
          <p:nvPr/>
        </p:nvSpPr>
        <p:spPr>
          <a:xfrm>
            <a:off x="7910275" y="3091425"/>
            <a:ext cx="1050900" cy="167625"/>
          </a:xfrm>
          <a:prstGeom prst="flowChartMagneticDrum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697" name="Google Shape;697;p46"/>
          <p:cNvSpPr/>
          <p:nvPr/>
        </p:nvSpPr>
        <p:spPr>
          <a:xfrm>
            <a:off x="7910275" y="3167625"/>
            <a:ext cx="1050900" cy="167625"/>
          </a:xfrm>
          <a:prstGeom prst="flowChartMagneticDrum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698" name="Google Shape;698;p46"/>
          <p:cNvSpPr/>
          <p:nvPr/>
        </p:nvSpPr>
        <p:spPr>
          <a:xfrm>
            <a:off x="7910275" y="3243825"/>
            <a:ext cx="1050900" cy="167625"/>
          </a:xfrm>
          <a:prstGeom prst="flowChartMagneticDrum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699" name="Google Shape;699;p46"/>
          <p:cNvSpPr/>
          <p:nvPr/>
        </p:nvSpPr>
        <p:spPr>
          <a:xfrm>
            <a:off x="7910275" y="3320025"/>
            <a:ext cx="1050900" cy="167625"/>
          </a:xfrm>
          <a:prstGeom prst="flowChartMagneticDrum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700" name="Google Shape;700;p46"/>
          <p:cNvCxnSpPr>
            <a:stCxn id="676" idx="0"/>
            <a:endCxn id="695" idx="1"/>
          </p:cNvCxnSpPr>
          <p:nvPr/>
        </p:nvCxnSpPr>
        <p:spPr>
          <a:xfrm>
            <a:off x="4743800" y="2696350"/>
            <a:ext cx="3096300" cy="1113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1" name="Google Shape;701;p46"/>
          <p:cNvCxnSpPr>
            <a:stCxn id="702" idx="2"/>
            <a:endCxn id="695" idx="1"/>
          </p:cNvCxnSpPr>
          <p:nvPr/>
        </p:nvCxnSpPr>
        <p:spPr>
          <a:xfrm>
            <a:off x="5558525" y="2441750"/>
            <a:ext cx="2281500" cy="365700"/>
          </a:xfrm>
          <a:prstGeom prst="straightConnector1">
            <a:avLst/>
          </a:prstGeom>
          <a:noFill/>
          <a:ln cap="flat" cmpd="sng" w="9525">
            <a:solidFill>
              <a:srgbClr val="FFD9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2" name="Google Shape;702;p46"/>
          <p:cNvSpPr txBox="1"/>
          <p:nvPr/>
        </p:nvSpPr>
        <p:spPr>
          <a:xfrm>
            <a:off x="4956125" y="2133950"/>
            <a:ext cx="1204800" cy="307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800"/>
              <a:t>publish</a:t>
            </a:r>
            <a:endParaRPr xmlns:a="http://schemas.openxmlformats.org/drawingml/2006/main" sz="800"/>
          </a:p>
        </p:txBody>
      </p:sp>
      <p:sp>
        <p:nvSpPr>
          <p:cNvPr id="703" name="Google Shape;703;p46"/>
          <p:cNvSpPr txBox="1"/>
          <p:nvPr/>
        </p:nvSpPr>
        <p:spPr>
          <a:xfrm>
            <a:off x="5049550" y="2776175"/>
            <a:ext cx="761100" cy="323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900"/>
              <a:t>subscribe</a:t>
            </a:r>
            <a:endParaRPr xmlns:a="http://schemas.openxmlformats.org/drawingml/2006/main" sz="900"/>
          </a:p>
        </p:txBody>
      </p:sp>
      <p:cxnSp>
        <p:nvCxnSpPr>
          <p:cNvPr id="704" name="Google Shape;704;p46"/>
          <p:cNvCxnSpPr>
            <a:stCxn id="675" idx="2"/>
            <a:endCxn id="702" idx="0"/>
          </p:cNvCxnSpPr>
          <p:nvPr/>
        </p:nvCxnSpPr>
        <p:spPr>
          <a:xfrm>
            <a:off x="4156907" y="1584913"/>
            <a:ext cx="1401600" cy="54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5" name="Google Shape;705;p46"/>
          <p:cNvCxnSpPr>
            <a:stCxn id="703" idx="3"/>
            <a:endCxn id="692" idx="2"/>
          </p:cNvCxnSpPr>
          <p:nvPr/>
        </p:nvCxnSpPr>
        <p:spPr>
          <a:xfrm>
            <a:off x="5810650" y="2937725"/>
            <a:ext cx="841800" cy="24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Details on the topic</a:t>
            </a:r>
            <a:endParaRPr xmlns:a="http://schemas.openxmlformats.org/drawingml/2006/main"/>
          </a:p>
        </p:txBody>
      </p:sp>
      <p:sp>
        <p:nvSpPr>
          <p:cNvPr id="711" name="Google Shape;711;p4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12" name="Google Shape;712;p4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Due to the topic, microservices are definitely linked to each other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For the entire application to work correctly, the microservices must communicate with each other via the correct topics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“Dependency”, which also needs to be documented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The coupling itself is loose and therefore there is no dependency between the microservices!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The term “topic” comes from the world of classic messaging systems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This means that classic messaging is in principle suitable as an event bus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but not in practice...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Excursus: Messaging</a:t>
            </a:r>
            <a:endParaRPr xmlns:a="http://schemas.openxmlformats.org/drawingml/2006/main"/>
          </a:p>
        </p:txBody>
      </p:sp>
      <p:sp>
        <p:nvSpPr>
          <p:cNvPr id="718" name="Google Shape;718;p48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19" name="Google Shape;719;p48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News distribution strategies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Point-to-point messaging with queues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A message is processed by exactly one consumer process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Publish/Subscribe with Topics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A message is processed by all active consumers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If no consumer is active -&gt; message is not processed at all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Durable subscriptions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A message is processed by all registered consumers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The messages are stored in the topic until the last consumer has become active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Excursus: Messaging as an event bus</a:t>
            </a:r>
            <a:endParaRPr xmlns:a="http://schemas.openxmlformats.org/drawingml/2006/main"/>
          </a:p>
        </p:txBody>
      </p:sp>
      <p:sp>
        <p:nvSpPr>
          <p:cNvPr id="725" name="Google Shape;725;p49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26" name="Google Shape;726;p49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News distribution strategies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 strike="sngStrike"/>
              <a:t>Point-to-point messaging with queues</a:t>
            </a:r>
            <a:endParaRPr xmlns:a="http://schemas.openxmlformats.org/drawingml/2006/main" strike="sngStrike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 strike="sngStrike"/>
              <a:t>A message is processed by exactly one consumer process</a:t>
            </a:r>
            <a:endParaRPr xmlns:a="http://schemas.openxmlformats.org/drawingml/2006/main" strike="sngStrike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 strike="sngStrike"/>
              <a:t>Publish/Subscribe with Topics</a:t>
            </a:r>
            <a:endParaRPr xmlns:a="http://schemas.openxmlformats.org/drawingml/2006/main" strike="sngStrike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 strike="sngStrike"/>
              <a:t>A message is processed by all active consumers</a:t>
            </a:r>
            <a:endParaRPr xmlns:a="http://schemas.openxmlformats.org/drawingml/2006/main" strike="sngStrike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 strike="sngStrike"/>
              <a:t>If no consumer is active -&gt; message is not processed at all</a:t>
            </a:r>
            <a:endParaRPr xmlns:a="http://schemas.openxmlformats.org/drawingml/2006/main" strike="sngStrike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Non-active microservices can definitely happen</a:t>
            </a:r>
            <a:endParaRPr xmlns:a="http://schemas.openxmlformats.org/drawingml/2006/main"/>
          </a:p>
          <a:p>
            <a:pPr xmlns:a="http://schemas.openxmlformats.org/drawingml/2006/main"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 xmlns:a="http://schemas.openxmlformats.org/drawingml/2006/main">
              <a:rPr lang="en" sz="1200"/>
              <a:t>Durable subscription</a:t>
            </a:r>
            <a:endParaRPr xmlns:a="http://schemas.openxmlformats.org/drawingml/2006/main" sz="1200"/>
          </a:p>
          <a:p>
            <a:pPr xmlns:a="http://schemas.openxmlformats.org/drawingml/2006/main"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▪"/>
            </a:pPr>
            <a:r xmlns:a="http://schemas.openxmlformats.org/drawingml/2006/main">
              <a:rPr lang="en" sz="1000"/>
              <a:t>A message is processed by all registered consumers</a:t>
            </a:r>
            <a:endParaRPr xmlns:a="http://schemas.openxmlformats.org/drawingml/2006/main" sz="1000"/>
          </a:p>
          <a:p>
            <a:pPr xmlns:a="http://schemas.openxmlformats.org/drawingml/2006/main"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▪"/>
            </a:pPr>
            <a:r xmlns:a="http://schemas.openxmlformats.org/drawingml/2006/main">
              <a:rPr lang="en" sz="1000"/>
              <a:t>The messages are stored in the topic until the last consumer has become active</a:t>
            </a:r>
            <a:endParaRPr xmlns:a="http://schemas.openxmlformats.org/drawingml/2006/main" sz="1000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Microservices implementations, if implemented incorrectly, can mark messages as processed even though they are incorrectly processed</a:t>
            </a:r>
            <a:endParaRPr xmlns:a="http://schemas.openxmlformats.org/drawingml/2006/main"/>
          </a:p>
          <a:p>
            <a:pPr xmlns:a="http://schemas.openxmlformats.org/drawingml/2006/main"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/>
              <a:t>A leased microservice should then also be able to “reset up”.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Need: New product</a:t>
            </a:r>
            <a:endParaRPr xmlns:a="http://schemas.openxmlformats.org/drawingml/2006/main"/>
          </a:p>
        </p:txBody>
      </p:sp>
      <p:sp>
        <p:nvSpPr>
          <p:cNvPr id="732" name="Google Shape;732;p5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33" name="Google Shape;733;p50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Specially adapted to microservices communication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feature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“Durable subscription with history”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Highest available system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Scalable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Status 200x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Start of the “Apache Kafka” project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Throughput measurements show: Kafka is clearly superior to classic messaging systems in the “event bus for microservices” application area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Note: As of 2022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Classic messaging systems have become “Kafkaesque”.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Kafka was also equipped with features of a messaging system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Summary</a:t>
            </a:r>
            <a:endParaRPr xmlns:a="http://schemas.openxmlformats.org/drawingml/2006/main"/>
          </a:p>
        </p:txBody>
      </p:sp>
      <p:sp>
        <p:nvSpPr>
          <p:cNvPr id="739" name="Google Shape;739;p5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40" name="Google Shape;740;p51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State of the art is the implementation of event-driven microservice architectures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This means that a BASE architecture can be implemented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Eventual consistency can thus be achieved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However, redundant data storage is still available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Data transfer via network is unavoidable for synchronization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Estimating the amount of data to be transferred provides a criterion for the usefulness of the microservices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This already provides a criterion for the size/granularity of microservices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Direct interaction between microservices</a:t>
            </a:r>
            <a:endParaRPr xmlns:a="http://schemas.openxmlformats.org/drawingml/2006/main"/>
          </a:p>
        </p:txBody>
      </p:sp>
      <p:sp>
        <p:nvSpPr>
          <p:cNvPr id="746" name="Google Shape;746;p5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47" name="Google Shape;747;p52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“Discussion”: Are these even microservices?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Teaching: “independent deployment…”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a bit idle now...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If there is direct interaction, then definitely not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synchronously blocking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with errors being passed on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Error message “The invoice cannot be created by the billing service” with stacktrace “connection refused: reminders” not permitted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The “Circuit Breaker” design pattern</a:t>
            </a:r>
            <a:endParaRPr xmlns:a="http://schemas.openxmlformats.org/drawingml/2006/main"/>
          </a:p>
        </p:txBody>
      </p:sp>
      <p:sp>
        <p:nvSpPr>
          <p:cNvPr id="753" name="Google Shape;753;p53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300"/>
              <a:t>‹#›</a:t>
            </a:fld>
            <a:endParaRPr sz="1300"/>
          </a:p>
        </p:txBody>
      </p:sp>
      <p:sp>
        <p:nvSpPr>
          <p:cNvPr id="754" name="Google Shape;754;p53"/>
          <p:cNvSpPr/>
          <p:nvPr/>
        </p:nvSpPr>
        <p:spPr>
          <a:xfrm>
            <a:off x="933575" y="1088925"/>
            <a:ext cx="770700" cy="72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Client</a:t>
            </a:r>
            <a:endParaRPr xmlns:a="http://schemas.openxmlformats.org/drawingml/2006/main"/>
          </a:p>
        </p:txBody>
      </p:sp>
      <p:sp>
        <p:nvSpPr>
          <p:cNvPr id="755" name="Google Shape;755;p53"/>
          <p:cNvSpPr/>
          <p:nvPr/>
        </p:nvSpPr>
        <p:spPr>
          <a:xfrm>
            <a:off x="5353175" y="1088925"/>
            <a:ext cx="770700" cy="72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server</a:t>
            </a:r>
            <a:endParaRPr xmlns:a="http://schemas.openxmlformats.org/drawingml/2006/main"/>
          </a:p>
        </p:txBody>
      </p:sp>
      <p:sp>
        <p:nvSpPr>
          <p:cNvPr id="756" name="Google Shape;756;p53"/>
          <p:cNvSpPr/>
          <p:nvPr/>
        </p:nvSpPr>
        <p:spPr>
          <a:xfrm>
            <a:off x="1710050" y="1375000"/>
            <a:ext cx="3631500" cy="19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757" name="Google Shape;757;p53"/>
          <p:cNvSpPr/>
          <p:nvPr/>
        </p:nvSpPr>
        <p:spPr>
          <a:xfrm>
            <a:off x="2550775" y="726950"/>
            <a:ext cx="1935414" cy="1261062"/>
          </a:xfrm>
          <a:prstGeom prst="lightningBol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758" name="Google Shape;758;p53"/>
          <p:cNvSpPr/>
          <p:nvPr/>
        </p:nvSpPr>
        <p:spPr>
          <a:xfrm>
            <a:off x="476375" y="2308125"/>
            <a:ext cx="770700" cy="72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Client</a:t>
            </a:r>
            <a:endParaRPr xmlns:a="http://schemas.openxmlformats.org/drawingml/2006/main"/>
          </a:p>
        </p:txBody>
      </p:sp>
      <p:sp>
        <p:nvSpPr>
          <p:cNvPr id="759" name="Google Shape;759;p53"/>
          <p:cNvSpPr/>
          <p:nvPr/>
        </p:nvSpPr>
        <p:spPr>
          <a:xfrm>
            <a:off x="1102875" y="2548475"/>
            <a:ext cx="1856700" cy="350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Circuit breakers</a:t>
            </a:r>
            <a:endParaRPr xmlns:a="http://schemas.openxmlformats.org/drawingml/2006/main"/>
          </a:p>
        </p:txBody>
      </p:sp>
      <p:sp>
        <p:nvSpPr>
          <p:cNvPr id="760" name="Google Shape;760;p53"/>
          <p:cNvSpPr/>
          <p:nvPr/>
        </p:nvSpPr>
        <p:spPr>
          <a:xfrm>
            <a:off x="2971125" y="2624375"/>
            <a:ext cx="1745400" cy="17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761" name="Google Shape;761;p53"/>
          <p:cNvSpPr/>
          <p:nvPr/>
        </p:nvSpPr>
        <p:spPr>
          <a:xfrm>
            <a:off x="4743575" y="2308125"/>
            <a:ext cx="770700" cy="72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server</a:t>
            </a:r>
            <a:endParaRPr xmlns:a="http://schemas.openxmlformats.org/drawingml/2006/main"/>
          </a:p>
        </p:txBody>
      </p:sp>
      <p:sp>
        <p:nvSpPr>
          <p:cNvPr id="762" name="Google Shape;762;p53"/>
          <p:cNvSpPr txBox="1"/>
          <p:nvPr/>
        </p:nvSpPr>
        <p:spPr>
          <a:xfrm>
            <a:off x="274450" y="3155050"/>
            <a:ext cx="8372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Tasks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Holds an internal state (Closed, Open, Semi-Closed)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Every client request is analyzed and, if necessary, a status change is made</a:t>
            </a:r>
            <a:endParaRPr xmlns:a="http://schemas.openxmlformats.org/drawingml/2006/main"/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Retry, monitoring response time, exceptions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Calls via the Circuit Breaker are always asynchronous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State can always be queried by the client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e.g. Spring application</a:t>
            </a:r>
            <a:endParaRPr xmlns:a="http://schemas.openxmlformats.org/drawingml/2006/main"/>
          </a:p>
        </p:txBody>
      </p:sp>
      <p:sp>
        <p:nvSpPr>
          <p:cNvPr id="768" name="Google Shape;768;p5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69" name="Google Shape;769;p54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/>
              <a:t>@Component</a:t>
            </a:r>
            <a:endParaRPr xmlns:a="http://schemas.openxmlformats.org/drawingml/2006/main" sz="1500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/>
              <a:t>class Actor{</a:t>
            </a:r>
            <a:endParaRPr xmlns:a="http://schemas.openxmlformats.org/drawingml/2006/main" sz="1500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/>
              <a:t>@Autowired CircuitBreaker&lt;InvoiceService&gt; cb;</a:t>
            </a:r>
            <a:endParaRPr xmlns:a="http://schemas.openxmlformats.org/drawingml/2006/main" sz="1500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 sz="1500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/>
              <a:t>public void newInvoice(){</a:t>
            </a:r>
            <a:endParaRPr xmlns:a="http://schemas.openxmlformats.org/drawingml/2006/main" sz="1500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/>
              <a:t>if (cb.isClosed()){</a:t>
            </a:r>
            <a:endParaRPr xmlns:a="http://schemas.openxmlformats.org/drawingml/2006/main" sz="1500"/>
          </a:p>
          <a:p>
            <a:pPr xmlns:a="http://schemas.openxmlformats.org/drawingml/2006/main" indent="45720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/>
              <a:t>cb.newInvoice(param, Actor::updateNewInvoice)</a:t>
            </a:r>
            <a:endParaRPr xmlns:a="http://schemas.openxmlformats.org/drawingml/2006/main" sz="1500"/>
          </a:p>
          <a:p>
            <a:pPr xmlns:a="http://schemas.openxmlformats.org/drawingml/2006/main"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/>
              <a:t>}else{...}</a:t>
            </a:r>
            <a:endParaRPr xmlns:a="http://schemas.openxmlformats.org/drawingml/2006/main" sz="1500"/>
          </a:p>
          <a:p>
            <a:pPr xmlns:a="http://schemas.openxmlformats.org/drawingml/2006/main"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/>
              <a:t>}</a:t>
            </a:r>
            <a:endParaRPr xmlns:a="http://schemas.openxmlformats.org/drawingml/2006/main" sz="1500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/>
              <a:t>public void updateNewInvoice(){</a:t>
            </a:r>
            <a:endParaRPr xmlns:a="http://schemas.openxmlformats.org/drawingml/2006/main" sz="1500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/>
              <a:t>//…</a:t>
            </a:r>
            <a:endParaRPr xmlns:a="http://schemas.openxmlformats.org/drawingml/2006/main" sz="1500"/>
          </a:p>
          <a:p>
            <a:pPr xmlns:a="http://schemas.openxmlformats.org/drawingml/2006/main"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/>
              <a:t>}</a:t>
            </a:r>
            <a:endParaRPr xmlns:a="http://schemas.openxmlformats.org/drawingml/2006/main" sz="1500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/>
              <a:t>}</a:t>
            </a:r>
            <a:endParaRPr xmlns:a="http://schemas.openxmlformats.org/drawingml/2006/main" sz="1500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 sz="15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5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75" name="Google Shape;775;p5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 microservices landscape with circuit breakers</a:t>
            </a:r>
            <a:endParaRPr xmlns:a="http://schemas.openxmlformats.org/drawingml/2006/main"/>
          </a:p>
        </p:txBody>
      </p:sp>
      <p:sp>
        <p:nvSpPr>
          <p:cNvPr id="776" name="Google Shape;776;p55"/>
          <p:cNvSpPr/>
          <p:nvPr/>
        </p:nvSpPr>
        <p:spPr>
          <a:xfrm>
            <a:off x="2745150" y="925500"/>
            <a:ext cx="1121100" cy="6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MS1</a:t>
            </a:r>
            <a:endParaRPr xmlns:a="http://schemas.openxmlformats.org/drawingml/2006/main"/>
          </a:p>
        </p:txBody>
      </p:sp>
      <p:sp>
        <p:nvSpPr>
          <p:cNvPr id="777" name="Google Shape;777;p55"/>
          <p:cNvSpPr/>
          <p:nvPr/>
        </p:nvSpPr>
        <p:spPr>
          <a:xfrm>
            <a:off x="4958975" y="925500"/>
            <a:ext cx="1121100" cy="6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MS2</a:t>
            </a:r>
            <a:endParaRPr xmlns:a="http://schemas.openxmlformats.org/drawingml/2006/main"/>
          </a:p>
        </p:txBody>
      </p:sp>
      <p:sp>
        <p:nvSpPr>
          <p:cNvPr id="778" name="Google Shape;778;p55"/>
          <p:cNvSpPr/>
          <p:nvPr/>
        </p:nvSpPr>
        <p:spPr>
          <a:xfrm>
            <a:off x="6936150" y="925500"/>
            <a:ext cx="1121100" cy="6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MS3</a:t>
            </a:r>
            <a:endParaRPr xmlns:a="http://schemas.openxmlformats.org/drawingml/2006/main"/>
          </a:p>
        </p:txBody>
      </p:sp>
      <p:sp>
        <p:nvSpPr>
          <p:cNvPr id="779" name="Google Shape;779;p55"/>
          <p:cNvSpPr/>
          <p:nvPr/>
        </p:nvSpPr>
        <p:spPr>
          <a:xfrm>
            <a:off x="130225" y="891075"/>
            <a:ext cx="1121100" cy="6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780" name="Google Shape;780;p55"/>
          <p:cNvSpPr/>
          <p:nvPr/>
        </p:nvSpPr>
        <p:spPr>
          <a:xfrm>
            <a:off x="5031150" y="1916100"/>
            <a:ext cx="1121100" cy="6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MS4</a:t>
            </a:r>
            <a:endParaRPr xmlns:a="http://schemas.openxmlformats.org/drawingml/2006/main"/>
          </a:p>
        </p:txBody>
      </p:sp>
      <p:cxnSp>
        <p:nvCxnSpPr>
          <p:cNvPr id="781" name="Google Shape;781;p55"/>
          <p:cNvCxnSpPr>
            <a:stCxn id="779" idx="3"/>
            <a:endCxn id="776" idx="1"/>
          </p:cNvCxnSpPr>
          <p:nvPr/>
        </p:nvCxnSpPr>
        <p:spPr>
          <a:xfrm>
            <a:off x="1251325" y="1220925"/>
            <a:ext cx="1493700" cy="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2" name="Google Shape;782;p55"/>
          <p:cNvCxnSpPr>
            <a:stCxn id="776" idx="3"/>
            <a:endCxn id="777" idx="1"/>
          </p:cNvCxnSpPr>
          <p:nvPr/>
        </p:nvCxnSpPr>
        <p:spPr>
          <a:xfrm>
            <a:off x="3866250" y="1255350"/>
            <a:ext cx="109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3" name="Google Shape;783;p55"/>
          <p:cNvCxnSpPr>
            <a:endCxn id="778" idx="1"/>
          </p:cNvCxnSpPr>
          <p:nvPr/>
        </p:nvCxnSpPr>
        <p:spPr>
          <a:xfrm>
            <a:off x="6079950" y="1255350"/>
            <a:ext cx="85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4" name="Google Shape;784;p55"/>
          <p:cNvCxnSpPr>
            <a:stCxn id="776" idx="2"/>
            <a:endCxn id="780" idx="1"/>
          </p:cNvCxnSpPr>
          <p:nvPr/>
        </p:nvCxnSpPr>
        <p:spPr>
          <a:xfrm>
            <a:off x="3305700" y="1585200"/>
            <a:ext cx="1725600" cy="66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5" name="Google Shape;785;p55"/>
          <p:cNvSpPr/>
          <p:nvPr/>
        </p:nvSpPr>
        <p:spPr>
          <a:xfrm>
            <a:off x="256325" y="3803775"/>
            <a:ext cx="8563800" cy="65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Surveillance/monitoring</a:t>
            </a:r>
            <a:endParaRPr xmlns:a="http://schemas.openxmlformats.org/drawingml/2006/main"/>
          </a:p>
        </p:txBody>
      </p:sp>
      <p:sp>
        <p:nvSpPr>
          <p:cNvPr id="786" name="Google Shape;786;p55"/>
          <p:cNvSpPr/>
          <p:nvPr/>
        </p:nvSpPr>
        <p:spPr>
          <a:xfrm>
            <a:off x="3163050" y="1404300"/>
            <a:ext cx="285300" cy="1809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787" name="Google Shape;787;p55"/>
          <p:cNvSpPr/>
          <p:nvPr/>
        </p:nvSpPr>
        <p:spPr>
          <a:xfrm>
            <a:off x="3607350" y="1147725"/>
            <a:ext cx="285300" cy="1809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788" name="Google Shape;788;p55"/>
          <p:cNvSpPr/>
          <p:nvPr/>
        </p:nvSpPr>
        <p:spPr>
          <a:xfrm>
            <a:off x="5804850" y="1164900"/>
            <a:ext cx="285300" cy="1809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789" name="Google Shape;789;p55"/>
          <p:cNvSpPr/>
          <p:nvPr/>
        </p:nvSpPr>
        <p:spPr>
          <a:xfrm>
            <a:off x="928050" y="1164900"/>
            <a:ext cx="285300" cy="1809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5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Circuit Breaker status</a:t>
            </a:r>
            <a:endParaRPr xmlns:a="http://schemas.openxmlformats.org/drawingml/2006/main"/>
          </a:p>
        </p:txBody>
      </p:sp>
      <p:sp>
        <p:nvSpPr>
          <p:cNvPr id="795" name="Google Shape;795;p5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96" name="Google Shape;796;p56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Typically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Analysis of all client requests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Health check through scheduled calls to a special server API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Administrative change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Microservices and Circuit Breakers</a:t>
            </a:r>
            <a:endParaRPr xmlns:a="http://schemas.openxmlformats.org/drawingml/2006/main"/>
          </a:p>
        </p:txBody>
      </p:sp>
      <p:sp>
        <p:nvSpPr>
          <p:cNvPr id="802" name="Google Shape;802;p5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03" name="Google Shape;803;p5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Dealing with a fault situation in Circuit Breaker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Further propagation of the error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This means that we also have a cascading of errors here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This should be avoided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Logging and returning a normal response with risk of inconsistency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Circuit breakers are only used for updates/queries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5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Synchronization of data storage</a:t>
            </a:r>
            <a:endParaRPr xmlns:a="http://schemas.openxmlformats.org/drawingml/2006/main"/>
          </a:p>
        </p:txBody>
      </p:sp>
      <p:sp>
        <p:nvSpPr>
          <p:cNvPr id="809" name="Google Shape;809;p58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300"/>
              <a:t>‹#›</a:t>
            </a:fld>
            <a:endParaRPr sz="1300"/>
          </a:p>
        </p:txBody>
      </p:sp>
      <p:sp>
        <p:nvSpPr>
          <p:cNvPr id="810" name="Google Shape;810;p58"/>
          <p:cNvSpPr/>
          <p:nvPr/>
        </p:nvSpPr>
        <p:spPr>
          <a:xfrm>
            <a:off x="2177125" y="761975"/>
            <a:ext cx="4156800" cy="157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Microservices 1</a:t>
            </a:r>
            <a:endParaRPr xmlns:a="http://schemas.openxmlformats.org/drawingml/2006/main"/>
          </a:p>
        </p:txBody>
      </p:sp>
      <p:sp>
        <p:nvSpPr>
          <p:cNvPr id="811" name="Google Shape;811;p58"/>
          <p:cNvSpPr/>
          <p:nvPr/>
        </p:nvSpPr>
        <p:spPr>
          <a:xfrm>
            <a:off x="40325" y="1182325"/>
            <a:ext cx="945900" cy="5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cxnSp>
        <p:nvCxnSpPr>
          <p:cNvPr id="812" name="Google Shape;812;p58"/>
          <p:cNvCxnSpPr>
            <a:stCxn id="811" idx="3"/>
            <a:endCxn id="813" idx="1"/>
          </p:cNvCxnSpPr>
          <p:nvPr/>
        </p:nvCxnSpPr>
        <p:spPr>
          <a:xfrm flipH="1" rot="10800000">
            <a:off x="986225" y="1377925"/>
            <a:ext cx="834900" cy="8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3" name="Google Shape;813;p58"/>
          <p:cNvSpPr/>
          <p:nvPr/>
        </p:nvSpPr>
        <p:spPr>
          <a:xfrm>
            <a:off x="1820975" y="1199850"/>
            <a:ext cx="764700" cy="35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API</a:t>
            </a:r>
            <a:endParaRPr xmlns:a="http://schemas.openxmlformats.org/drawingml/2006/main"/>
          </a:p>
        </p:txBody>
      </p:sp>
      <p:sp>
        <p:nvSpPr>
          <p:cNvPr id="814" name="Google Shape;814;p58"/>
          <p:cNvSpPr/>
          <p:nvPr/>
        </p:nvSpPr>
        <p:spPr>
          <a:xfrm>
            <a:off x="3064525" y="1153125"/>
            <a:ext cx="706500" cy="49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sp>
        <p:nvSpPr>
          <p:cNvPr id="815" name="Google Shape;815;p58"/>
          <p:cNvSpPr/>
          <p:nvPr/>
        </p:nvSpPr>
        <p:spPr>
          <a:xfrm>
            <a:off x="4536975" y="766900"/>
            <a:ext cx="1739800" cy="7472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816" name="Google Shape;816;p58"/>
          <p:cNvCxnSpPr>
            <a:stCxn id="814" idx="3"/>
            <a:endCxn id="815" idx="2"/>
          </p:cNvCxnSpPr>
          <p:nvPr/>
        </p:nvCxnSpPr>
        <p:spPr>
          <a:xfrm flipH="1" rot="10800000">
            <a:off x="3771025" y="1140375"/>
            <a:ext cx="765900" cy="2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7" name="Google Shape;817;p58"/>
          <p:cNvSpPr/>
          <p:nvPr/>
        </p:nvSpPr>
        <p:spPr>
          <a:xfrm>
            <a:off x="2177125" y="3124175"/>
            <a:ext cx="4156800" cy="132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Microservices 2</a:t>
            </a:r>
            <a:endParaRPr xmlns:a="http://schemas.openxmlformats.org/drawingml/2006/main"/>
          </a:p>
        </p:txBody>
      </p:sp>
      <p:sp>
        <p:nvSpPr>
          <p:cNvPr id="818" name="Google Shape;818;p58"/>
          <p:cNvSpPr/>
          <p:nvPr/>
        </p:nvSpPr>
        <p:spPr>
          <a:xfrm>
            <a:off x="3735925" y="2910450"/>
            <a:ext cx="1868400" cy="4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Update API</a:t>
            </a:r>
            <a:endParaRPr xmlns:a="http://schemas.openxmlformats.org/drawingml/2006/main"/>
          </a:p>
        </p:txBody>
      </p:sp>
      <p:cxnSp>
        <p:nvCxnSpPr>
          <p:cNvPr id="819" name="Google Shape;819;p58"/>
          <p:cNvCxnSpPr>
            <a:stCxn id="814" idx="2"/>
            <a:endCxn id="820" idx="0"/>
          </p:cNvCxnSpPr>
          <p:nvPr/>
        </p:nvCxnSpPr>
        <p:spPr>
          <a:xfrm>
            <a:off x="3417775" y="1643625"/>
            <a:ext cx="805800" cy="56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0" name="Google Shape;820;p58"/>
          <p:cNvSpPr/>
          <p:nvPr/>
        </p:nvSpPr>
        <p:spPr>
          <a:xfrm>
            <a:off x="3414825" y="2205225"/>
            <a:ext cx="1617300" cy="35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Circuit breakers</a:t>
            </a:r>
            <a:endParaRPr xmlns:a="http://schemas.openxmlformats.org/drawingml/2006/main"/>
          </a:p>
        </p:txBody>
      </p:sp>
      <p:cxnSp>
        <p:nvCxnSpPr>
          <p:cNvPr id="821" name="Google Shape;821;p58"/>
          <p:cNvCxnSpPr>
            <a:stCxn id="814" idx="1"/>
            <a:endCxn id="813" idx="3"/>
          </p:cNvCxnSpPr>
          <p:nvPr/>
        </p:nvCxnSpPr>
        <p:spPr>
          <a:xfrm rot="10800000">
            <a:off x="2585725" y="1377975"/>
            <a:ext cx="478800" cy="2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2" name="Google Shape;822;p58"/>
          <p:cNvCxnSpPr>
            <a:stCxn id="820" idx="2"/>
            <a:endCxn id="818" idx="0"/>
          </p:cNvCxnSpPr>
          <p:nvPr/>
        </p:nvCxnSpPr>
        <p:spPr>
          <a:xfrm>
            <a:off x="4223475" y="2561325"/>
            <a:ext cx="446700" cy="3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3" name="Google Shape;823;p58"/>
          <p:cNvSpPr/>
          <p:nvPr/>
        </p:nvSpPr>
        <p:spPr>
          <a:xfrm>
            <a:off x="4308375" y="3586300"/>
            <a:ext cx="1739800" cy="7472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824" name="Google Shape;824;p58"/>
          <p:cNvCxnSpPr>
            <a:stCxn id="818" idx="2"/>
            <a:endCxn id="823" idx="1"/>
          </p:cNvCxnSpPr>
          <p:nvPr/>
        </p:nvCxnSpPr>
        <p:spPr>
          <a:xfrm>
            <a:off x="4670125" y="3342450"/>
            <a:ext cx="508200" cy="2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5" name="Google Shape;825;p58"/>
          <p:cNvSpPr/>
          <p:nvPr/>
        </p:nvSpPr>
        <p:spPr>
          <a:xfrm>
            <a:off x="4536975" y="1538725"/>
            <a:ext cx="1030500" cy="291000"/>
          </a:xfrm>
          <a:prstGeom prst="flowChartMagneticDrum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826" name="Google Shape;826;p58"/>
          <p:cNvCxnSpPr>
            <a:stCxn id="814" idx="2"/>
            <a:endCxn id="825" idx="1"/>
          </p:cNvCxnSpPr>
          <p:nvPr/>
        </p:nvCxnSpPr>
        <p:spPr>
          <a:xfrm>
            <a:off x="3417775" y="1643625"/>
            <a:ext cx="1119300" cy="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7" name="Google Shape;827;p58"/>
          <p:cNvSpPr/>
          <p:nvPr/>
        </p:nvSpPr>
        <p:spPr>
          <a:xfrm>
            <a:off x="3771025" y="1981250"/>
            <a:ext cx="198600" cy="1590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828" name="Google Shape;828;p58"/>
          <p:cNvSpPr txBox="1"/>
          <p:nvPr/>
        </p:nvSpPr>
        <p:spPr>
          <a:xfrm>
            <a:off x="7507450" y="808675"/>
            <a:ext cx="1312800" cy="6156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Update Success</a:t>
            </a:r>
            <a:endParaRPr xmlns:a="http://schemas.openxmlformats.org/drawingml/2006/main"/>
          </a:p>
        </p:txBody>
      </p:sp>
      <p:sp>
        <p:nvSpPr>
          <p:cNvPr id="829" name="Google Shape;829;p58"/>
          <p:cNvSpPr/>
          <p:nvPr/>
        </p:nvSpPr>
        <p:spPr>
          <a:xfrm>
            <a:off x="4380625" y="2667050"/>
            <a:ext cx="198600" cy="1590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830" name="Google Shape;830;p58"/>
          <p:cNvSpPr/>
          <p:nvPr/>
        </p:nvSpPr>
        <p:spPr>
          <a:xfrm>
            <a:off x="4533025" y="3962450"/>
            <a:ext cx="198600" cy="1590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831" name="Google Shape;831;p58"/>
          <p:cNvSpPr txBox="1"/>
          <p:nvPr/>
        </p:nvSpPr>
        <p:spPr>
          <a:xfrm>
            <a:off x="7507450" y="1646875"/>
            <a:ext cx="1312800" cy="61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Update failure</a:t>
            </a:r>
            <a:endParaRPr xmlns:a="http://schemas.openxmlformats.org/drawingml/2006/main"/>
          </a:p>
        </p:txBody>
      </p:sp>
      <p:sp>
        <p:nvSpPr>
          <p:cNvPr id="832" name="Google Shape;832;p58"/>
          <p:cNvSpPr/>
          <p:nvPr/>
        </p:nvSpPr>
        <p:spPr>
          <a:xfrm>
            <a:off x="3542425" y="1752650"/>
            <a:ext cx="198600" cy="159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833" name="Google Shape;833;p58"/>
          <p:cNvSpPr/>
          <p:nvPr/>
        </p:nvSpPr>
        <p:spPr>
          <a:xfrm>
            <a:off x="4685425" y="1600250"/>
            <a:ext cx="198600" cy="159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834" name="Google Shape;834;p58"/>
          <p:cNvSpPr/>
          <p:nvPr/>
        </p:nvSpPr>
        <p:spPr>
          <a:xfrm>
            <a:off x="5137125" y="1917950"/>
            <a:ext cx="735600" cy="22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900"/>
              <a:t>Scheduler</a:t>
            </a:r>
            <a:endParaRPr xmlns:a="http://schemas.openxmlformats.org/drawingml/2006/main" sz="900"/>
          </a:p>
        </p:txBody>
      </p:sp>
      <p:cxnSp>
        <p:nvCxnSpPr>
          <p:cNvPr id="835" name="Google Shape;835;p58"/>
          <p:cNvCxnSpPr/>
          <p:nvPr/>
        </p:nvCxnSpPr>
        <p:spPr>
          <a:xfrm>
            <a:off x="5052225" y="1829725"/>
            <a:ext cx="400200" cy="10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6" name="Google Shape;836;p58"/>
          <p:cNvCxnSpPr>
            <a:stCxn id="834" idx="2"/>
            <a:endCxn id="820" idx="3"/>
          </p:cNvCxnSpPr>
          <p:nvPr/>
        </p:nvCxnSpPr>
        <p:spPr>
          <a:xfrm flipH="1">
            <a:off x="5032125" y="2142950"/>
            <a:ext cx="472800" cy="24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9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42" name="Google Shape;842;p5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843" name="Google Shape;843;p59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Modeling the API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60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49" name="Google Shape;849;p6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Entity </a:t>
            </a:r>
            <a:r xmlns:a="http://schemas.openxmlformats.org/drawingml/2006/main">
              <a:rPr lang="en" sz="1200"/>
              <a:t>Relational </a:t>
            </a:r>
            <a:r xmlns:a="http://schemas.openxmlformats.org/drawingml/2006/main">
              <a:rPr lang="en"/>
              <a:t>Model</a:t>
            </a:r>
            <a:endParaRPr xmlns:a="http://schemas.openxmlformats.org/drawingml/2006/main"/>
          </a:p>
        </p:txBody>
      </p:sp>
      <p:sp>
        <p:nvSpPr>
          <p:cNvPr id="850" name="Google Shape;850;p60"/>
          <p:cNvSpPr/>
          <p:nvPr/>
        </p:nvSpPr>
        <p:spPr>
          <a:xfrm>
            <a:off x="3321425" y="925450"/>
            <a:ext cx="1250700" cy="82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Publisher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Surname</a:t>
            </a:r>
            <a:endParaRPr xmlns:a="http://schemas.openxmlformats.org/drawingml/2006/main"/>
          </a:p>
        </p:txBody>
      </p:sp>
      <p:sp>
        <p:nvSpPr>
          <p:cNvPr id="851" name="Google Shape;851;p60"/>
          <p:cNvSpPr/>
          <p:nvPr/>
        </p:nvSpPr>
        <p:spPr>
          <a:xfrm>
            <a:off x="1692550" y="2128125"/>
            <a:ext cx="1220100" cy="120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Book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+ isbn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+ title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+ price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852" name="Google Shape;852;p60"/>
          <p:cNvCxnSpPr>
            <a:stCxn id="850" idx="2"/>
            <a:endCxn id="851" idx="0"/>
          </p:cNvCxnSpPr>
          <p:nvPr/>
        </p:nvCxnSpPr>
        <p:spPr>
          <a:xfrm flipH="1">
            <a:off x="2302475" y="1754350"/>
            <a:ext cx="1644300" cy="37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3" name="Google Shape;853;p60"/>
          <p:cNvCxnSpPr>
            <a:stCxn id="851" idx="0"/>
            <a:endCxn id="850" idx="2"/>
          </p:cNvCxnSpPr>
          <p:nvPr/>
        </p:nvCxnSpPr>
        <p:spPr>
          <a:xfrm flipH="1" rot="10800000">
            <a:off x="2302600" y="1754325"/>
            <a:ext cx="1644300" cy="37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4" name="Google Shape;854;p60"/>
          <p:cNvSpPr txBox="1"/>
          <p:nvPr/>
        </p:nvSpPr>
        <p:spPr>
          <a:xfrm>
            <a:off x="2912650" y="1555975"/>
            <a:ext cx="35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n</a:t>
            </a:r>
            <a:endParaRPr xmlns:a="http://schemas.openxmlformats.org/drawingml/2006/main" sz="1000"/>
          </a:p>
        </p:txBody>
      </p:sp>
      <p:sp>
        <p:nvSpPr>
          <p:cNvPr id="855" name="Google Shape;855;p60"/>
          <p:cNvSpPr txBox="1"/>
          <p:nvPr/>
        </p:nvSpPr>
        <p:spPr>
          <a:xfrm>
            <a:off x="2154275" y="1667500"/>
            <a:ext cx="35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1</a:t>
            </a:r>
            <a:endParaRPr xmlns:a="http://schemas.openxmlformats.org/drawingml/2006/main" sz="1000"/>
          </a:p>
        </p:txBody>
      </p:sp>
      <p:sp>
        <p:nvSpPr>
          <p:cNvPr id="856" name="Google Shape;856;p60"/>
          <p:cNvSpPr/>
          <p:nvPr/>
        </p:nvSpPr>
        <p:spPr>
          <a:xfrm>
            <a:off x="4640875" y="2110600"/>
            <a:ext cx="1716300" cy="120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Author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lastName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first name</a:t>
            </a:r>
            <a:endParaRPr xmlns:a="http://schemas.openxmlformats.org/drawingml/2006/main"/>
          </a:p>
        </p:txBody>
      </p:sp>
      <p:cxnSp>
        <p:nvCxnSpPr>
          <p:cNvPr id="857" name="Google Shape;857;p60"/>
          <p:cNvCxnSpPr>
            <a:stCxn id="851" idx="3"/>
            <a:endCxn id="856" idx="1"/>
          </p:cNvCxnSpPr>
          <p:nvPr/>
        </p:nvCxnSpPr>
        <p:spPr>
          <a:xfrm flipH="1" rot="10800000">
            <a:off x="2912650" y="2712075"/>
            <a:ext cx="1728300" cy="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8" name="Google Shape;858;p60"/>
          <p:cNvCxnSpPr>
            <a:stCxn id="856" idx="1"/>
            <a:endCxn id="851" idx="3"/>
          </p:cNvCxnSpPr>
          <p:nvPr/>
        </p:nvCxnSpPr>
        <p:spPr>
          <a:xfrm flipH="1">
            <a:off x="2912575" y="2711950"/>
            <a:ext cx="1728300" cy="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9" name="Google Shape;859;p60"/>
          <p:cNvSpPr txBox="1"/>
          <p:nvPr/>
        </p:nvSpPr>
        <p:spPr>
          <a:xfrm>
            <a:off x="2988850" y="2317975"/>
            <a:ext cx="35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n</a:t>
            </a:r>
            <a:endParaRPr xmlns:a="http://schemas.openxmlformats.org/drawingml/2006/main" sz="1000"/>
          </a:p>
        </p:txBody>
      </p:sp>
      <p:sp>
        <p:nvSpPr>
          <p:cNvPr id="860" name="Google Shape;860;p60"/>
          <p:cNvSpPr txBox="1"/>
          <p:nvPr/>
        </p:nvSpPr>
        <p:spPr>
          <a:xfrm>
            <a:off x="4284250" y="2317975"/>
            <a:ext cx="35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</a:t>
            </a:r>
            <a:endParaRPr xmlns:a="http://schemas.openxmlformats.org/drawingml/2006/main"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6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Entity operations</a:t>
            </a:r>
            <a:endParaRPr xmlns:a="http://schemas.openxmlformats.org/drawingml/2006/main"/>
          </a:p>
        </p:txBody>
      </p:sp>
      <p:sp>
        <p:nvSpPr>
          <p:cNvPr id="866" name="Google Shape;866;p6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67" name="Google Shape;867;p61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CRUD operations including parameterization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Create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Read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Update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Delete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6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Excursus: CRUD vs REST</a:t>
            </a:r>
            <a:endParaRPr xmlns:a="http://schemas.openxmlformats.org/drawingml/2006/main"/>
          </a:p>
        </p:txBody>
      </p:sp>
      <p:sp>
        <p:nvSpPr>
          <p:cNvPr id="873" name="Google Shape;873;p6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74" name="Google Shape;874;p62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What is the difference between CRUD services and REST services?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CRUD is the basis of REST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Extensions to REST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REST defines a resource ID through which the resource can be requested</a:t>
            </a:r>
            <a:endParaRPr xmlns:a="http://schemas.openxmlformats.org/drawingml/2006/main"/>
          </a:p>
          <a:p>
            <a:pPr xmlns:a="http://schemas.openxmlformats.org/drawingml/2006/main"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/>
              <a:t>REST defines an endpoint, i.e. a URL / URI that uniquely defines the resource worldwide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Resource formats</a:t>
            </a:r>
            <a:endParaRPr xmlns:a="http://schemas.openxmlformats.org/drawingml/2006/main"/>
          </a:p>
          <a:p>
            <a:pPr xmlns:a="http://schemas.openxmlformats.org/drawingml/2006/main"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/>
              <a:t>Server provides a set of formats</a:t>
            </a:r>
            <a:endParaRPr xmlns:a="http://schemas.openxmlformats.org/drawingml/2006/main"/>
          </a:p>
          <a:p>
            <a:pPr xmlns:a="http://schemas.openxmlformats.org/drawingml/2006/main"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/>
              <a:t>Client: Defines the accepted formats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Cache policy, i.e. the validity period of read data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A tag represents the data values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6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Microservices and entity operations</a:t>
            </a:r>
            <a:endParaRPr xmlns:a="http://schemas.openxmlformats.org/drawingml/2006/main"/>
          </a:p>
        </p:txBody>
      </p:sp>
      <p:sp>
        <p:nvSpPr>
          <p:cNvPr id="880" name="Google Shape;880;p6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81" name="Google Shape;881;p63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Microservices as RESTful WebServices?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CRUD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Resource ID and endpoint concept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The de facto standard for the data format is JSON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XML also widely used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Cache policy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optional / flat rate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ETags are less common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6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Is a typical REST API sufficient for microservices?</a:t>
            </a:r>
            <a:endParaRPr xmlns:a="http://schemas.openxmlformats.org/drawingml/2006/main"/>
          </a:p>
        </p:txBody>
      </p:sp>
      <p:sp>
        <p:nvSpPr>
          <p:cNvPr id="887" name="Google Shape;887;p6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88" name="Google Shape;888;p64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Example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h2908727.stratoserver.net:8080/swagger-ui.html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Answer: No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Excursus: The other implementation of REST is SQL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It is missing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Projection queries</a:t>
            </a:r>
            <a:endParaRPr xmlns:a="http://schemas.openxmlformats.org/drawingml/2006/main"/>
          </a:p>
          <a:p>
            <a:pPr xmlns:a="http://schemas.openxmlformats.org/drawingml/2006/main"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/>
              <a:t>select this, that from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Criteria query specification</a:t>
            </a:r>
            <a:endParaRPr xmlns:a="http://schemas.openxmlformats.org/drawingml/2006/main"/>
          </a:p>
          <a:p>
            <a:pPr xmlns:a="http://schemas.openxmlformats.org/drawingml/2006/main"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/>
              <a:t>WHERE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An idea for a meaningful extension of the REST specification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GraphQL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6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Implementation of an entity model</a:t>
            </a:r>
            <a:endParaRPr xmlns:a="http://schemas.openxmlformats.org/drawingml/2006/main"/>
          </a:p>
        </p:txBody>
      </p:sp>
      <p:sp>
        <p:nvSpPr>
          <p:cNvPr id="894" name="Google Shape;894;p65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95" name="Google Shape;895;p65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Relational model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Implements the associations in the entity model as a combination of foreign keys and link tables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Book table is expanded with a foreign key of the publisher ID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Books_Authors link table</a:t>
            </a:r>
            <a:endParaRPr xmlns:a="http://schemas.openxmlformats.org/drawingml/2006/main"/>
          </a:p>
          <a:p>
            <a:pPr xmlns:a="http://schemas.openxmlformats.org/drawingml/2006/main"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/>
              <a:t>Constraints on Book and Author tables</a:t>
            </a:r>
            <a:endParaRPr xmlns:a="http://schemas.openxmlformats.org/drawingml/2006/main"/>
          </a:p>
          <a:p>
            <a:pPr xmlns:a="http://schemas.openxmlformats.org/drawingml/2006/main"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 xmlns:a="http://schemas.openxmlformats.org/drawingml/2006/main">
              <a:rPr lang="en"/>
              <a:t>Server-side join through a query language extension</a:t>
            </a:r>
            <a:endParaRPr xmlns:a="http://schemas.openxmlformats.org/drawingml/2006/main"/>
          </a:p>
          <a:p>
            <a:pPr xmlns:a="http://schemas.openxmlformats.org/drawingml/2006/main"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 xmlns:a="http://schemas.openxmlformats.org/drawingml/2006/main">
              <a:rPr lang="en"/>
              <a:t>JOIN…ON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Document-oriented model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Implementation of associations through a link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66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01" name="Google Shape;901;p6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Starting point: relational model</a:t>
            </a:r>
            <a:endParaRPr xmlns:a="http://schemas.openxmlformats.org/drawingml/2006/main"/>
          </a:p>
        </p:txBody>
      </p:sp>
      <p:sp>
        <p:nvSpPr>
          <p:cNvPr id="902" name="Google Shape;902;p66"/>
          <p:cNvSpPr/>
          <p:nvPr/>
        </p:nvSpPr>
        <p:spPr>
          <a:xfrm>
            <a:off x="4284725" y="907925"/>
            <a:ext cx="4267775" cy="175147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Relational database</a:t>
            </a:r>
            <a:endParaRPr xmlns:a="http://schemas.openxmlformats.org/drawingml/2006/main"/>
          </a:p>
        </p:txBody>
      </p:sp>
      <p:sp>
        <p:nvSpPr>
          <p:cNvPr id="903" name="Google Shape;903;p66"/>
          <p:cNvSpPr/>
          <p:nvPr/>
        </p:nvSpPr>
        <p:spPr>
          <a:xfrm>
            <a:off x="6841875" y="16318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</a:t>
            </a:r>
            <a:endParaRPr xmlns:a="http://schemas.openxmlformats.org/drawingml/2006/main"/>
          </a:p>
        </p:txBody>
      </p:sp>
      <p:sp>
        <p:nvSpPr>
          <p:cNvPr id="904" name="Google Shape;904;p66"/>
          <p:cNvSpPr/>
          <p:nvPr/>
        </p:nvSpPr>
        <p:spPr>
          <a:xfrm>
            <a:off x="7070475" y="20128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B.A</a:t>
            </a:r>
            <a:endParaRPr xmlns:a="http://schemas.openxmlformats.org/drawingml/2006/main"/>
          </a:p>
        </p:txBody>
      </p:sp>
      <p:sp>
        <p:nvSpPr>
          <p:cNvPr id="905" name="Google Shape;905;p66"/>
          <p:cNvSpPr/>
          <p:nvPr/>
        </p:nvSpPr>
        <p:spPr>
          <a:xfrm>
            <a:off x="7451475" y="17080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</a:t>
            </a:r>
            <a:endParaRPr xmlns:a="http://schemas.openxmlformats.org/drawingml/2006/main"/>
          </a:p>
        </p:txBody>
      </p:sp>
      <p:sp>
        <p:nvSpPr>
          <p:cNvPr id="906" name="Google Shape;906;p66"/>
          <p:cNvSpPr/>
          <p:nvPr/>
        </p:nvSpPr>
        <p:spPr>
          <a:xfrm>
            <a:off x="7680075" y="20890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</a:t>
            </a:r>
            <a:endParaRPr xmlns:a="http://schemas.openxmlformats.org/drawingml/2006/main"/>
          </a:p>
        </p:txBody>
      </p:sp>
      <p:sp>
        <p:nvSpPr>
          <p:cNvPr id="907" name="Google Shape;907;p66"/>
          <p:cNvSpPr txBox="1"/>
          <p:nvPr/>
        </p:nvSpPr>
        <p:spPr>
          <a:xfrm>
            <a:off x="8050400" y="2583500"/>
            <a:ext cx="945900" cy="400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Tables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7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13" name="Google Shape;913;p6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Starting point: document model</a:t>
            </a:r>
            <a:endParaRPr xmlns:a="http://schemas.openxmlformats.org/drawingml/2006/main"/>
          </a:p>
        </p:txBody>
      </p:sp>
      <p:sp>
        <p:nvSpPr>
          <p:cNvPr id="914" name="Google Shape;914;p67"/>
          <p:cNvSpPr/>
          <p:nvPr/>
        </p:nvSpPr>
        <p:spPr>
          <a:xfrm>
            <a:off x="4284725" y="907925"/>
            <a:ext cx="4267775" cy="175147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Document database</a:t>
            </a:r>
            <a:endParaRPr xmlns:a="http://schemas.openxmlformats.org/drawingml/2006/main"/>
          </a:p>
        </p:txBody>
      </p:sp>
      <p:sp>
        <p:nvSpPr>
          <p:cNvPr id="915" name="Google Shape;915;p67"/>
          <p:cNvSpPr txBox="1"/>
          <p:nvPr/>
        </p:nvSpPr>
        <p:spPr>
          <a:xfrm>
            <a:off x="7787675" y="2583500"/>
            <a:ext cx="1208700" cy="6156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Buckets/Collections</a:t>
            </a:r>
            <a:endParaRPr xmlns:a="http://schemas.openxmlformats.org/drawingml/2006/main"/>
          </a:p>
        </p:txBody>
      </p:sp>
      <p:sp>
        <p:nvSpPr>
          <p:cNvPr id="916" name="Google Shape;916;p67"/>
          <p:cNvSpPr/>
          <p:nvPr/>
        </p:nvSpPr>
        <p:spPr>
          <a:xfrm>
            <a:off x="7069575" y="15793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</a:t>
            </a:r>
            <a:endParaRPr xmlns:a="http://schemas.openxmlformats.org/drawingml/2006/main"/>
          </a:p>
        </p:txBody>
      </p:sp>
      <p:sp>
        <p:nvSpPr>
          <p:cNvPr id="917" name="Google Shape;917;p67"/>
          <p:cNvSpPr/>
          <p:nvPr/>
        </p:nvSpPr>
        <p:spPr>
          <a:xfrm>
            <a:off x="7602975" y="16555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</a:t>
            </a:r>
            <a:endParaRPr xmlns:a="http://schemas.openxmlformats.org/drawingml/2006/main"/>
          </a:p>
        </p:txBody>
      </p:sp>
      <p:sp>
        <p:nvSpPr>
          <p:cNvPr id="918" name="Google Shape;918;p67"/>
          <p:cNvSpPr/>
          <p:nvPr/>
        </p:nvSpPr>
        <p:spPr>
          <a:xfrm>
            <a:off x="7221975" y="20365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68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24" name="Google Shape;924;p68"/>
          <p:cNvSpPr/>
          <p:nvPr/>
        </p:nvSpPr>
        <p:spPr>
          <a:xfrm>
            <a:off x="1651700" y="767925"/>
            <a:ext cx="7821600" cy="282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</a:t>
            </a:r>
            <a:endParaRPr xmlns:a="http://schemas.openxmlformats.org/drawingml/2006/main"/>
          </a:p>
        </p:txBody>
      </p:sp>
      <p:sp>
        <p:nvSpPr>
          <p:cNvPr id="925" name="Google Shape;925;p6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Starting point: relational model</a:t>
            </a:r>
            <a:endParaRPr xmlns:a="http://schemas.openxmlformats.org/drawingml/2006/main"/>
          </a:p>
        </p:txBody>
      </p:sp>
      <p:sp>
        <p:nvSpPr>
          <p:cNvPr id="926" name="Google Shape;926;p68"/>
          <p:cNvSpPr/>
          <p:nvPr/>
        </p:nvSpPr>
        <p:spPr>
          <a:xfrm>
            <a:off x="4284725" y="907925"/>
            <a:ext cx="4267775" cy="175147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Relational database</a:t>
            </a:r>
            <a:endParaRPr xmlns:a="http://schemas.openxmlformats.org/drawingml/2006/main"/>
          </a:p>
        </p:txBody>
      </p:sp>
      <p:sp>
        <p:nvSpPr>
          <p:cNvPr id="927" name="Google Shape;927;p68"/>
          <p:cNvSpPr/>
          <p:nvPr/>
        </p:nvSpPr>
        <p:spPr>
          <a:xfrm>
            <a:off x="6841875" y="16318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</a:t>
            </a:r>
            <a:endParaRPr xmlns:a="http://schemas.openxmlformats.org/drawingml/2006/main"/>
          </a:p>
        </p:txBody>
      </p:sp>
      <p:sp>
        <p:nvSpPr>
          <p:cNvPr id="928" name="Google Shape;928;p68"/>
          <p:cNvSpPr/>
          <p:nvPr/>
        </p:nvSpPr>
        <p:spPr>
          <a:xfrm>
            <a:off x="7070475" y="20128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B.A</a:t>
            </a:r>
            <a:endParaRPr xmlns:a="http://schemas.openxmlformats.org/drawingml/2006/main"/>
          </a:p>
        </p:txBody>
      </p:sp>
      <p:sp>
        <p:nvSpPr>
          <p:cNvPr id="929" name="Google Shape;929;p68"/>
          <p:cNvSpPr/>
          <p:nvPr/>
        </p:nvSpPr>
        <p:spPr>
          <a:xfrm>
            <a:off x="7451475" y="17080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</a:t>
            </a:r>
            <a:endParaRPr xmlns:a="http://schemas.openxmlformats.org/drawingml/2006/main"/>
          </a:p>
        </p:txBody>
      </p:sp>
      <p:sp>
        <p:nvSpPr>
          <p:cNvPr id="930" name="Google Shape;930;p68"/>
          <p:cNvSpPr/>
          <p:nvPr/>
        </p:nvSpPr>
        <p:spPr>
          <a:xfrm>
            <a:off x="7680075" y="20890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</a:t>
            </a:r>
            <a:endParaRPr xmlns:a="http://schemas.openxmlformats.org/drawingml/2006/main"/>
          </a:p>
        </p:txBody>
      </p:sp>
      <p:sp>
        <p:nvSpPr>
          <p:cNvPr id="931" name="Google Shape;931;p68"/>
          <p:cNvSpPr txBox="1"/>
          <p:nvPr/>
        </p:nvSpPr>
        <p:spPr>
          <a:xfrm>
            <a:off x="8050400" y="2583500"/>
            <a:ext cx="945900" cy="400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Tables</a:t>
            </a:r>
            <a:endParaRPr xmlns:a="http://schemas.openxmlformats.org/drawingml/2006/main"/>
          </a:p>
        </p:txBody>
      </p:sp>
      <p:sp>
        <p:nvSpPr>
          <p:cNvPr id="932" name="Google Shape;932;p68"/>
          <p:cNvSpPr/>
          <p:nvPr/>
        </p:nvSpPr>
        <p:spPr>
          <a:xfrm>
            <a:off x="2463200" y="172527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sp>
        <p:nvSpPr>
          <p:cNvPr id="933" name="Google Shape;933;p68"/>
          <p:cNvSpPr/>
          <p:nvPr/>
        </p:nvSpPr>
        <p:spPr>
          <a:xfrm>
            <a:off x="746900" y="1591325"/>
            <a:ext cx="1383600" cy="9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OP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O.A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IF</a:t>
            </a:r>
            <a:endParaRPr xmlns:a="http://schemas.openxmlformats.org/drawingml/2006/main"/>
          </a:p>
        </p:txBody>
      </p:sp>
      <p:cxnSp>
        <p:nvCxnSpPr>
          <p:cNvPr id="934" name="Google Shape;934;p68"/>
          <p:cNvCxnSpPr>
            <a:stCxn id="932" idx="1"/>
            <a:endCxn id="933" idx="3"/>
          </p:cNvCxnSpPr>
          <p:nvPr/>
        </p:nvCxnSpPr>
        <p:spPr>
          <a:xfrm rot="10800000">
            <a:off x="2130500" y="2075975"/>
            <a:ext cx="33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5" name="Google Shape;935;p68"/>
          <p:cNvCxnSpPr>
            <a:stCxn id="932" idx="3"/>
          </p:cNvCxnSpPr>
          <p:nvPr/>
        </p:nvCxnSpPr>
        <p:spPr>
          <a:xfrm flipH="1" rot="10800000">
            <a:off x="3344900" y="2011475"/>
            <a:ext cx="928200" cy="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6" name="Google Shape;936;p68"/>
          <p:cNvSpPr txBox="1"/>
          <p:nvPr/>
        </p:nvSpPr>
        <p:spPr>
          <a:xfrm>
            <a:off x="2165450" y="2793675"/>
            <a:ext cx="2550900" cy="6156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ACID without necessary redundancies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69"/>
          <p:cNvSpPr/>
          <p:nvPr/>
        </p:nvSpPr>
        <p:spPr>
          <a:xfrm>
            <a:off x="1651700" y="802955"/>
            <a:ext cx="7821600" cy="282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</a:t>
            </a:r>
            <a:endParaRPr xmlns:a="http://schemas.openxmlformats.org/drawingml/2006/main"/>
          </a:p>
        </p:txBody>
      </p:sp>
      <p:sp>
        <p:nvSpPr>
          <p:cNvPr id="942" name="Google Shape;942;p69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43" name="Google Shape;943;p6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Starting point: document model</a:t>
            </a:r>
            <a:endParaRPr xmlns:a="http://schemas.openxmlformats.org/drawingml/2006/main"/>
          </a:p>
        </p:txBody>
      </p:sp>
      <p:sp>
        <p:nvSpPr>
          <p:cNvPr id="944" name="Google Shape;944;p69"/>
          <p:cNvSpPr/>
          <p:nvPr/>
        </p:nvSpPr>
        <p:spPr>
          <a:xfrm>
            <a:off x="4284725" y="907925"/>
            <a:ext cx="4267775" cy="175147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chemeClr val="accent2"/>
                </a:solidFill>
              </a:rPr>
              <a:t>Document </a:t>
            </a:r>
            <a:r xmlns:a="http://schemas.openxmlformats.org/drawingml/2006/main">
              <a:rPr lang="en"/>
              <a:t>database</a:t>
            </a:r>
            <a:endParaRPr xmlns:a="http://schemas.openxmlformats.org/drawingml/2006/main"/>
          </a:p>
        </p:txBody>
      </p:sp>
      <p:sp>
        <p:nvSpPr>
          <p:cNvPr id="945" name="Google Shape;945;p69"/>
          <p:cNvSpPr txBox="1"/>
          <p:nvPr/>
        </p:nvSpPr>
        <p:spPr>
          <a:xfrm>
            <a:off x="7787675" y="2583500"/>
            <a:ext cx="1208700" cy="6156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Buckets/Collections</a:t>
            </a:r>
            <a:endParaRPr xmlns:a="http://schemas.openxmlformats.org/drawingml/2006/main"/>
          </a:p>
        </p:txBody>
      </p:sp>
      <p:sp>
        <p:nvSpPr>
          <p:cNvPr id="946" name="Google Shape;946;p69"/>
          <p:cNvSpPr/>
          <p:nvPr/>
        </p:nvSpPr>
        <p:spPr>
          <a:xfrm>
            <a:off x="7069575" y="15793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</a:t>
            </a:r>
            <a:endParaRPr xmlns:a="http://schemas.openxmlformats.org/drawingml/2006/main"/>
          </a:p>
        </p:txBody>
      </p:sp>
      <p:sp>
        <p:nvSpPr>
          <p:cNvPr id="947" name="Google Shape;947;p69"/>
          <p:cNvSpPr/>
          <p:nvPr/>
        </p:nvSpPr>
        <p:spPr>
          <a:xfrm>
            <a:off x="7602975" y="16555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</a:t>
            </a:r>
            <a:endParaRPr xmlns:a="http://schemas.openxmlformats.org/drawingml/2006/main"/>
          </a:p>
        </p:txBody>
      </p:sp>
      <p:sp>
        <p:nvSpPr>
          <p:cNvPr id="948" name="Google Shape;948;p69"/>
          <p:cNvSpPr/>
          <p:nvPr/>
        </p:nvSpPr>
        <p:spPr>
          <a:xfrm>
            <a:off x="7221975" y="20365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</a:t>
            </a:r>
            <a:endParaRPr xmlns:a="http://schemas.openxmlformats.org/drawingml/2006/main"/>
          </a:p>
        </p:txBody>
      </p:sp>
      <p:sp>
        <p:nvSpPr>
          <p:cNvPr id="949" name="Google Shape;949;p69"/>
          <p:cNvSpPr/>
          <p:nvPr/>
        </p:nvSpPr>
        <p:spPr>
          <a:xfrm>
            <a:off x="2463200" y="172527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sp>
        <p:nvSpPr>
          <p:cNvPr id="950" name="Google Shape;950;p69"/>
          <p:cNvSpPr/>
          <p:nvPr/>
        </p:nvSpPr>
        <p:spPr>
          <a:xfrm>
            <a:off x="746900" y="1591325"/>
            <a:ext cx="1383600" cy="9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OP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O.A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IF</a:t>
            </a:r>
            <a:endParaRPr xmlns:a="http://schemas.openxmlformats.org/drawingml/2006/main"/>
          </a:p>
        </p:txBody>
      </p:sp>
      <p:cxnSp>
        <p:nvCxnSpPr>
          <p:cNvPr id="951" name="Google Shape;951;p69"/>
          <p:cNvCxnSpPr>
            <a:stCxn id="949" idx="3"/>
          </p:cNvCxnSpPr>
          <p:nvPr/>
        </p:nvCxnSpPr>
        <p:spPr>
          <a:xfrm flipH="1" rot="10800000">
            <a:off x="3344900" y="2011475"/>
            <a:ext cx="928200" cy="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2" name="Google Shape;952;p69"/>
          <p:cNvSpPr txBox="1"/>
          <p:nvPr/>
        </p:nvSpPr>
        <p:spPr>
          <a:xfrm>
            <a:off x="2165450" y="2793675"/>
            <a:ext cx="2550900" cy="6156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ACID without necessary redundancies</a:t>
            </a:r>
            <a:endParaRPr xmlns:a="http://schemas.openxmlformats.org/drawingml/2006/main"/>
          </a:p>
        </p:txBody>
      </p:sp>
      <p:cxnSp>
        <p:nvCxnSpPr>
          <p:cNvPr id="953" name="Google Shape;953;p69"/>
          <p:cNvCxnSpPr>
            <a:stCxn id="949" idx="1"/>
            <a:endCxn id="950" idx="3"/>
          </p:cNvCxnSpPr>
          <p:nvPr/>
        </p:nvCxnSpPr>
        <p:spPr>
          <a:xfrm rot="10800000">
            <a:off x="2130500" y="2075975"/>
            <a:ext cx="33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scenario</a:t>
            </a:r>
            <a:endParaRPr xmlns:a="http://schemas.openxmlformats.org/drawingml/2006/main"/>
          </a:p>
        </p:txBody>
      </p:sp>
      <p:sp>
        <p:nvSpPr>
          <p:cNvPr id="959" name="Google Shape;959;p7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60" name="Google Shape;960;p70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“Both previous slides look a bit monolithic” :-)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Refactoring towards smaller services / microservices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Both starting bases must be taken into account (relational, document)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Goal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PublishersService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BooksService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AuthorsService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1"/>
          <p:cNvSpPr/>
          <p:nvPr/>
        </p:nvSpPr>
        <p:spPr>
          <a:xfrm>
            <a:off x="1316641" y="767925"/>
            <a:ext cx="26376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966" name="Google Shape;966;p71"/>
          <p:cNvSpPr/>
          <p:nvPr/>
        </p:nvSpPr>
        <p:spPr>
          <a:xfrm>
            <a:off x="268100" y="1141450"/>
            <a:ext cx="1383600" cy="79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OP</a:t>
            </a:r>
            <a:endParaRPr xmlns:a="http://schemas.openxmlformats.org/drawingml/2006/main"/>
          </a:p>
        </p:txBody>
      </p:sp>
      <p:sp>
        <p:nvSpPr>
          <p:cNvPr id="967" name="Google Shape;967;p71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68" name="Google Shape;968;p7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Refactoring 1: Relational Model</a:t>
            </a:r>
            <a:endParaRPr xmlns:a="http://schemas.openxmlformats.org/drawingml/2006/main"/>
          </a:p>
        </p:txBody>
      </p:sp>
      <p:sp>
        <p:nvSpPr>
          <p:cNvPr id="969" name="Google Shape;969;p71"/>
          <p:cNvSpPr/>
          <p:nvPr/>
        </p:nvSpPr>
        <p:spPr>
          <a:xfrm>
            <a:off x="4763450" y="1608500"/>
            <a:ext cx="4267775" cy="175147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Relational database</a:t>
            </a:r>
            <a:endParaRPr xmlns:a="http://schemas.openxmlformats.org/drawingml/2006/main"/>
          </a:p>
        </p:txBody>
      </p:sp>
      <p:sp>
        <p:nvSpPr>
          <p:cNvPr id="970" name="Google Shape;970;p71"/>
          <p:cNvSpPr/>
          <p:nvPr/>
        </p:nvSpPr>
        <p:spPr>
          <a:xfrm>
            <a:off x="6841875" y="23938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</a:t>
            </a:r>
            <a:endParaRPr xmlns:a="http://schemas.openxmlformats.org/drawingml/2006/main"/>
          </a:p>
        </p:txBody>
      </p:sp>
      <p:sp>
        <p:nvSpPr>
          <p:cNvPr id="971" name="Google Shape;971;p71"/>
          <p:cNvSpPr/>
          <p:nvPr/>
        </p:nvSpPr>
        <p:spPr>
          <a:xfrm>
            <a:off x="7070475" y="27748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B.A</a:t>
            </a:r>
            <a:endParaRPr xmlns:a="http://schemas.openxmlformats.org/drawingml/2006/main"/>
          </a:p>
        </p:txBody>
      </p:sp>
      <p:sp>
        <p:nvSpPr>
          <p:cNvPr id="972" name="Google Shape;972;p71"/>
          <p:cNvSpPr/>
          <p:nvPr/>
        </p:nvSpPr>
        <p:spPr>
          <a:xfrm>
            <a:off x="7451475" y="24700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</a:t>
            </a:r>
            <a:endParaRPr xmlns:a="http://schemas.openxmlformats.org/drawingml/2006/main"/>
          </a:p>
        </p:txBody>
      </p:sp>
      <p:sp>
        <p:nvSpPr>
          <p:cNvPr id="973" name="Google Shape;973;p71"/>
          <p:cNvSpPr/>
          <p:nvPr/>
        </p:nvSpPr>
        <p:spPr>
          <a:xfrm>
            <a:off x="7680075" y="28510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</a:t>
            </a:r>
            <a:endParaRPr xmlns:a="http://schemas.openxmlformats.org/drawingml/2006/main"/>
          </a:p>
        </p:txBody>
      </p:sp>
      <p:sp>
        <p:nvSpPr>
          <p:cNvPr id="974" name="Google Shape;974;p71"/>
          <p:cNvSpPr/>
          <p:nvPr/>
        </p:nvSpPr>
        <p:spPr>
          <a:xfrm>
            <a:off x="2620825" y="10977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975" name="Google Shape;975;p71"/>
          <p:cNvCxnSpPr>
            <a:stCxn id="974" idx="1"/>
            <a:endCxn id="966" idx="3"/>
          </p:cNvCxnSpPr>
          <p:nvPr/>
        </p:nvCxnSpPr>
        <p:spPr>
          <a:xfrm flipH="1">
            <a:off x="1651825" y="1448425"/>
            <a:ext cx="969000" cy="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6" name="Google Shape;976;p71"/>
          <p:cNvCxnSpPr>
            <a:stCxn id="974" idx="3"/>
            <a:endCxn id="969" idx="2"/>
          </p:cNvCxnSpPr>
          <p:nvPr/>
        </p:nvCxnSpPr>
        <p:spPr>
          <a:xfrm>
            <a:off x="3502525" y="1448425"/>
            <a:ext cx="1260900" cy="10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7" name="Google Shape;977;p71"/>
          <p:cNvSpPr txBox="1"/>
          <p:nvPr/>
        </p:nvSpPr>
        <p:spPr>
          <a:xfrm>
            <a:off x="4984850" y="3708075"/>
            <a:ext cx="2550900" cy="831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ACID with XA transactions, without necessary redundancies</a:t>
            </a:r>
            <a:endParaRPr xmlns:a="http://schemas.openxmlformats.org/drawingml/2006/main"/>
          </a:p>
        </p:txBody>
      </p:sp>
      <p:sp>
        <p:nvSpPr>
          <p:cNvPr id="978" name="Google Shape;978;p71"/>
          <p:cNvSpPr/>
          <p:nvPr/>
        </p:nvSpPr>
        <p:spPr>
          <a:xfrm>
            <a:off x="1343468" y="2139525"/>
            <a:ext cx="2637600" cy="109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979" name="Google Shape;979;p71"/>
          <p:cNvSpPr/>
          <p:nvPr/>
        </p:nvSpPr>
        <p:spPr>
          <a:xfrm>
            <a:off x="268100" y="2463350"/>
            <a:ext cx="13836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O.A</a:t>
            </a:r>
            <a:endParaRPr xmlns:a="http://schemas.openxmlformats.org/drawingml/2006/main"/>
          </a:p>
        </p:txBody>
      </p:sp>
      <p:sp>
        <p:nvSpPr>
          <p:cNvPr id="980" name="Google Shape;980;p71"/>
          <p:cNvSpPr/>
          <p:nvPr/>
        </p:nvSpPr>
        <p:spPr>
          <a:xfrm>
            <a:off x="1300200" y="3543550"/>
            <a:ext cx="26376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981" name="Google Shape;981;p71"/>
          <p:cNvSpPr/>
          <p:nvPr/>
        </p:nvSpPr>
        <p:spPr>
          <a:xfrm>
            <a:off x="70875" y="3940300"/>
            <a:ext cx="13836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IF</a:t>
            </a:r>
            <a:endParaRPr xmlns:a="http://schemas.openxmlformats.org/drawingml/2006/main"/>
          </a:p>
        </p:txBody>
      </p:sp>
      <p:sp>
        <p:nvSpPr>
          <p:cNvPr id="982" name="Google Shape;982;p71"/>
          <p:cNvSpPr/>
          <p:nvPr/>
        </p:nvSpPr>
        <p:spPr>
          <a:xfrm>
            <a:off x="2392225" y="24693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983" name="Google Shape;983;p71"/>
          <p:cNvCxnSpPr>
            <a:stCxn id="982" idx="1"/>
            <a:endCxn id="979" idx="3"/>
          </p:cNvCxnSpPr>
          <p:nvPr/>
        </p:nvCxnSpPr>
        <p:spPr>
          <a:xfrm rot="10800000">
            <a:off x="1651825" y="2814025"/>
            <a:ext cx="7404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4" name="Google Shape;984;p71"/>
          <p:cNvCxnSpPr>
            <a:stCxn id="982" idx="3"/>
            <a:endCxn id="969" idx="2"/>
          </p:cNvCxnSpPr>
          <p:nvPr/>
        </p:nvCxnSpPr>
        <p:spPr>
          <a:xfrm flipH="1" rot="10800000">
            <a:off x="3273925" y="2484325"/>
            <a:ext cx="14895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5" name="Google Shape;985;p71"/>
          <p:cNvSpPr/>
          <p:nvPr/>
        </p:nvSpPr>
        <p:spPr>
          <a:xfrm>
            <a:off x="2316025" y="39171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986" name="Google Shape;986;p71"/>
          <p:cNvCxnSpPr>
            <a:stCxn id="985" idx="1"/>
            <a:endCxn id="981" idx="3"/>
          </p:cNvCxnSpPr>
          <p:nvPr/>
        </p:nvCxnSpPr>
        <p:spPr>
          <a:xfrm flipH="1">
            <a:off x="1454425" y="4267825"/>
            <a:ext cx="8616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7" name="Google Shape;987;p71"/>
          <p:cNvCxnSpPr>
            <a:stCxn id="985" idx="3"/>
            <a:endCxn id="969" idx="2"/>
          </p:cNvCxnSpPr>
          <p:nvPr/>
        </p:nvCxnSpPr>
        <p:spPr>
          <a:xfrm flipH="1" rot="10800000">
            <a:off x="3197725" y="2484325"/>
            <a:ext cx="1565700" cy="17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2"/>
          <p:cNvSpPr/>
          <p:nvPr/>
        </p:nvSpPr>
        <p:spPr>
          <a:xfrm>
            <a:off x="1316641" y="767925"/>
            <a:ext cx="26376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993" name="Google Shape;993;p72"/>
          <p:cNvSpPr/>
          <p:nvPr/>
        </p:nvSpPr>
        <p:spPr>
          <a:xfrm>
            <a:off x="268100" y="1141450"/>
            <a:ext cx="1383600" cy="79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OP</a:t>
            </a:r>
            <a:endParaRPr xmlns:a="http://schemas.openxmlformats.org/drawingml/2006/main"/>
          </a:p>
        </p:txBody>
      </p:sp>
      <p:sp>
        <p:nvSpPr>
          <p:cNvPr id="994" name="Google Shape;994;p72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95" name="Google Shape;995;p7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Refactoring 1: Document Model</a:t>
            </a:r>
            <a:endParaRPr xmlns:a="http://schemas.openxmlformats.org/drawingml/2006/main"/>
          </a:p>
        </p:txBody>
      </p:sp>
      <p:sp>
        <p:nvSpPr>
          <p:cNvPr id="996" name="Google Shape;996;p72"/>
          <p:cNvSpPr/>
          <p:nvPr/>
        </p:nvSpPr>
        <p:spPr>
          <a:xfrm>
            <a:off x="4763450" y="1608500"/>
            <a:ext cx="4267775" cy="175147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Document database</a:t>
            </a:r>
            <a:endParaRPr xmlns:a="http://schemas.openxmlformats.org/drawingml/2006/main"/>
          </a:p>
        </p:txBody>
      </p:sp>
      <p:sp>
        <p:nvSpPr>
          <p:cNvPr id="997" name="Google Shape;997;p72"/>
          <p:cNvSpPr/>
          <p:nvPr/>
        </p:nvSpPr>
        <p:spPr>
          <a:xfrm>
            <a:off x="2620825" y="10977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998" name="Google Shape;998;p72"/>
          <p:cNvCxnSpPr>
            <a:stCxn id="997" idx="1"/>
            <a:endCxn id="993" idx="3"/>
          </p:cNvCxnSpPr>
          <p:nvPr/>
        </p:nvCxnSpPr>
        <p:spPr>
          <a:xfrm flipH="1">
            <a:off x="1651825" y="1448425"/>
            <a:ext cx="969000" cy="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9" name="Google Shape;999;p72"/>
          <p:cNvCxnSpPr>
            <a:stCxn id="997" idx="3"/>
            <a:endCxn id="996" idx="2"/>
          </p:cNvCxnSpPr>
          <p:nvPr/>
        </p:nvCxnSpPr>
        <p:spPr>
          <a:xfrm>
            <a:off x="3502525" y="1448425"/>
            <a:ext cx="1260900" cy="10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0" name="Google Shape;1000;p72"/>
          <p:cNvSpPr txBox="1"/>
          <p:nvPr/>
        </p:nvSpPr>
        <p:spPr>
          <a:xfrm>
            <a:off x="4984850" y="3708075"/>
            <a:ext cx="2550900" cy="831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ACID with XA transactions, without necessary redundancies</a:t>
            </a:r>
            <a:endParaRPr xmlns:a="http://schemas.openxmlformats.org/drawingml/2006/main"/>
          </a:p>
        </p:txBody>
      </p:sp>
      <p:sp>
        <p:nvSpPr>
          <p:cNvPr id="1001" name="Google Shape;1001;p72"/>
          <p:cNvSpPr/>
          <p:nvPr/>
        </p:nvSpPr>
        <p:spPr>
          <a:xfrm>
            <a:off x="1343468" y="2139525"/>
            <a:ext cx="2637600" cy="109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1002" name="Google Shape;1002;p72"/>
          <p:cNvSpPr/>
          <p:nvPr/>
        </p:nvSpPr>
        <p:spPr>
          <a:xfrm>
            <a:off x="268100" y="2463350"/>
            <a:ext cx="13836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O.A</a:t>
            </a:r>
            <a:endParaRPr xmlns:a="http://schemas.openxmlformats.org/drawingml/2006/main"/>
          </a:p>
        </p:txBody>
      </p:sp>
      <p:sp>
        <p:nvSpPr>
          <p:cNvPr id="1003" name="Google Shape;1003;p72"/>
          <p:cNvSpPr/>
          <p:nvPr/>
        </p:nvSpPr>
        <p:spPr>
          <a:xfrm>
            <a:off x="1300200" y="3543550"/>
            <a:ext cx="26376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1004" name="Google Shape;1004;p72"/>
          <p:cNvSpPr/>
          <p:nvPr/>
        </p:nvSpPr>
        <p:spPr>
          <a:xfrm>
            <a:off x="70875" y="3940300"/>
            <a:ext cx="13836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IF</a:t>
            </a:r>
            <a:endParaRPr xmlns:a="http://schemas.openxmlformats.org/drawingml/2006/main"/>
          </a:p>
        </p:txBody>
      </p:sp>
      <p:sp>
        <p:nvSpPr>
          <p:cNvPr id="1005" name="Google Shape;1005;p72"/>
          <p:cNvSpPr/>
          <p:nvPr/>
        </p:nvSpPr>
        <p:spPr>
          <a:xfrm>
            <a:off x="2392225" y="24693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006" name="Google Shape;1006;p72"/>
          <p:cNvCxnSpPr>
            <a:stCxn id="1005" idx="1"/>
            <a:endCxn id="1002" idx="3"/>
          </p:cNvCxnSpPr>
          <p:nvPr/>
        </p:nvCxnSpPr>
        <p:spPr>
          <a:xfrm rot="10800000">
            <a:off x="1651825" y="2814025"/>
            <a:ext cx="7404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7" name="Google Shape;1007;p72"/>
          <p:cNvCxnSpPr>
            <a:stCxn id="1005" idx="3"/>
            <a:endCxn id="996" idx="2"/>
          </p:cNvCxnSpPr>
          <p:nvPr/>
        </p:nvCxnSpPr>
        <p:spPr>
          <a:xfrm flipH="1" rot="10800000">
            <a:off x="3273925" y="2484325"/>
            <a:ext cx="14895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8" name="Google Shape;1008;p72"/>
          <p:cNvSpPr/>
          <p:nvPr/>
        </p:nvSpPr>
        <p:spPr>
          <a:xfrm>
            <a:off x="2316025" y="39171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009" name="Google Shape;1009;p72"/>
          <p:cNvCxnSpPr>
            <a:stCxn id="1008" idx="1"/>
            <a:endCxn id="1004" idx="3"/>
          </p:cNvCxnSpPr>
          <p:nvPr/>
        </p:nvCxnSpPr>
        <p:spPr>
          <a:xfrm flipH="1">
            <a:off x="1454425" y="4267825"/>
            <a:ext cx="8616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0" name="Google Shape;1010;p72"/>
          <p:cNvCxnSpPr>
            <a:stCxn id="1008" idx="3"/>
            <a:endCxn id="996" idx="2"/>
          </p:cNvCxnSpPr>
          <p:nvPr/>
        </p:nvCxnSpPr>
        <p:spPr>
          <a:xfrm flipH="1" rot="10800000">
            <a:off x="3197725" y="2484325"/>
            <a:ext cx="1565700" cy="17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1" name="Google Shape;1011;p72"/>
          <p:cNvSpPr/>
          <p:nvPr/>
        </p:nvSpPr>
        <p:spPr>
          <a:xfrm>
            <a:off x="7069575" y="24175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</a:t>
            </a:r>
            <a:endParaRPr xmlns:a="http://schemas.openxmlformats.org/drawingml/2006/main"/>
          </a:p>
        </p:txBody>
      </p:sp>
      <p:sp>
        <p:nvSpPr>
          <p:cNvPr id="1012" name="Google Shape;1012;p72"/>
          <p:cNvSpPr/>
          <p:nvPr/>
        </p:nvSpPr>
        <p:spPr>
          <a:xfrm>
            <a:off x="7602975" y="24937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</a:t>
            </a:r>
            <a:endParaRPr xmlns:a="http://schemas.openxmlformats.org/drawingml/2006/main"/>
          </a:p>
        </p:txBody>
      </p:sp>
      <p:sp>
        <p:nvSpPr>
          <p:cNvPr id="1013" name="Google Shape;1013;p72"/>
          <p:cNvSpPr/>
          <p:nvPr/>
        </p:nvSpPr>
        <p:spPr>
          <a:xfrm>
            <a:off x="7221975" y="28747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3"/>
          <p:cNvSpPr/>
          <p:nvPr/>
        </p:nvSpPr>
        <p:spPr>
          <a:xfrm>
            <a:off x="1316675" y="767925"/>
            <a:ext cx="61722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</a:t>
            </a:r>
            <a:endParaRPr xmlns:a="http://schemas.openxmlformats.org/drawingml/2006/main"/>
          </a:p>
        </p:txBody>
      </p:sp>
      <p:sp>
        <p:nvSpPr>
          <p:cNvPr id="1019" name="Google Shape;1019;p73"/>
          <p:cNvSpPr/>
          <p:nvPr/>
        </p:nvSpPr>
        <p:spPr>
          <a:xfrm>
            <a:off x="268100" y="1141450"/>
            <a:ext cx="1383600" cy="79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OP</a:t>
            </a:r>
            <a:endParaRPr xmlns:a="http://schemas.openxmlformats.org/drawingml/2006/main"/>
          </a:p>
        </p:txBody>
      </p:sp>
      <p:sp>
        <p:nvSpPr>
          <p:cNvPr id="1020" name="Google Shape;1020;p73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21" name="Google Shape;1021;p7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Refactoring 2: Document Model</a:t>
            </a:r>
            <a:endParaRPr xmlns:a="http://schemas.openxmlformats.org/drawingml/2006/main"/>
          </a:p>
        </p:txBody>
      </p:sp>
      <p:sp>
        <p:nvSpPr>
          <p:cNvPr id="1022" name="Google Shape;1022;p73"/>
          <p:cNvSpPr/>
          <p:nvPr/>
        </p:nvSpPr>
        <p:spPr>
          <a:xfrm>
            <a:off x="4886075" y="884575"/>
            <a:ext cx="2481250" cy="9750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Document database</a:t>
            </a:r>
            <a:endParaRPr xmlns:a="http://schemas.openxmlformats.org/drawingml/2006/main"/>
          </a:p>
        </p:txBody>
      </p:sp>
      <p:sp>
        <p:nvSpPr>
          <p:cNvPr id="1023" name="Google Shape;1023;p73"/>
          <p:cNvSpPr/>
          <p:nvPr/>
        </p:nvSpPr>
        <p:spPr>
          <a:xfrm>
            <a:off x="2620825" y="10977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024" name="Google Shape;1024;p73"/>
          <p:cNvCxnSpPr>
            <a:stCxn id="1023" idx="1"/>
            <a:endCxn id="1019" idx="3"/>
          </p:cNvCxnSpPr>
          <p:nvPr/>
        </p:nvCxnSpPr>
        <p:spPr>
          <a:xfrm flipH="1">
            <a:off x="1651825" y="1448425"/>
            <a:ext cx="969000" cy="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5" name="Google Shape;1025;p73"/>
          <p:cNvCxnSpPr>
            <a:stCxn id="1023" idx="3"/>
            <a:endCxn id="1022" idx="2"/>
          </p:cNvCxnSpPr>
          <p:nvPr/>
        </p:nvCxnSpPr>
        <p:spPr>
          <a:xfrm flipH="1" rot="10800000">
            <a:off x="3502525" y="1372225"/>
            <a:ext cx="1383600" cy="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6" name="Google Shape;1026;p73"/>
          <p:cNvSpPr txBox="1"/>
          <p:nvPr/>
        </p:nvSpPr>
        <p:spPr>
          <a:xfrm>
            <a:off x="7606700" y="1799125"/>
            <a:ext cx="1442100" cy="831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BASE,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almost without redundancies</a:t>
            </a:r>
            <a:endParaRPr xmlns:a="http://schemas.openxmlformats.org/drawingml/2006/main"/>
          </a:p>
        </p:txBody>
      </p:sp>
      <p:sp>
        <p:nvSpPr>
          <p:cNvPr id="1027" name="Google Shape;1027;p73"/>
          <p:cNvSpPr/>
          <p:nvPr/>
        </p:nvSpPr>
        <p:spPr>
          <a:xfrm>
            <a:off x="1343476" y="2139525"/>
            <a:ext cx="6099600" cy="112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chemeClr val="accent2"/>
                </a:solidFill>
              </a:rPr>
              <a:t>Micros </a:t>
            </a: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1028" name="Google Shape;1028;p73"/>
          <p:cNvSpPr/>
          <p:nvPr/>
        </p:nvSpPr>
        <p:spPr>
          <a:xfrm>
            <a:off x="268100" y="2463350"/>
            <a:ext cx="13836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O.A</a:t>
            </a:r>
            <a:endParaRPr xmlns:a="http://schemas.openxmlformats.org/drawingml/2006/main"/>
          </a:p>
        </p:txBody>
      </p:sp>
      <p:sp>
        <p:nvSpPr>
          <p:cNvPr id="1029" name="Google Shape;1029;p73"/>
          <p:cNvSpPr/>
          <p:nvPr/>
        </p:nvSpPr>
        <p:spPr>
          <a:xfrm>
            <a:off x="1300200" y="3543550"/>
            <a:ext cx="61722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chemeClr val="accent2"/>
                </a:solidFill>
              </a:rPr>
              <a:t>Micros </a:t>
            </a: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1030" name="Google Shape;1030;p73"/>
          <p:cNvSpPr/>
          <p:nvPr/>
        </p:nvSpPr>
        <p:spPr>
          <a:xfrm>
            <a:off x="70875" y="3940300"/>
            <a:ext cx="13836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IF</a:t>
            </a:r>
            <a:endParaRPr xmlns:a="http://schemas.openxmlformats.org/drawingml/2006/main"/>
          </a:p>
        </p:txBody>
      </p:sp>
      <p:sp>
        <p:nvSpPr>
          <p:cNvPr id="1031" name="Google Shape;1031;p73"/>
          <p:cNvSpPr/>
          <p:nvPr/>
        </p:nvSpPr>
        <p:spPr>
          <a:xfrm>
            <a:off x="2392225" y="24693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032" name="Google Shape;1032;p73"/>
          <p:cNvCxnSpPr>
            <a:stCxn id="1031" idx="1"/>
            <a:endCxn id="1028" idx="3"/>
          </p:cNvCxnSpPr>
          <p:nvPr/>
        </p:nvCxnSpPr>
        <p:spPr>
          <a:xfrm rot="10800000">
            <a:off x="1651825" y="2814025"/>
            <a:ext cx="7404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3" name="Google Shape;1033;p73"/>
          <p:cNvCxnSpPr>
            <a:stCxn id="1031" idx="3"/>
            <a:endCxn id="1034" idx="2"/>
          </p:cNvCxnSpPr>
          <p:nvPr/>
        </p:nvCxnSpPr>
        <p:spPr>
          <a:xfrm flipH="1" rot="10800000">
            <a:off x="3273925" y="2667625"/>
            <a:ext cx="161220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5" name="Google Shape;1035;p73"/>
          <p:cNvSpPr/>
          <p:nvPr/>
        </p:nvSpPr>
        <p:spPr>
          <a:xfrm>
            <a:off x="2316025" y="39171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036" name="Google Shape;1036;p73"/>
          <p:cNvCxnSpPr>
            <a:stCxn id="1035" idx="1"/>
            <a:endCxn id="1030" idx="3"/>
          </p:cNvCxnSpPr>
          <p:nvPr/>
        </p:nvCxnSpPr>
        <p:spPr>
          <a:xfrm flipH="1">
            <a:off x="1454425" y="4267825"/>
            <a:ext cx="8616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4" name="Google Shape;1034;p73"/>
          <p:cNvSpPr/>
          <p:nvPr/>
        </p:nvSpPr>
        <p:spPr>
          <a:xfrm>
            <a:off x="4886075" y="2179975"/>
            <a:ext cx="2481250" cy="9750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Document database</a:t>
            </a:r>
            <a:endParaRPr xmlns:a="http://schemas.openxmlformats.org/drawingml/2006/main"/>
          </a:p>
        </p:txBody>
      </p:sp>
      <p:cxnSp>
        <p:nvCxnSpPr>
          <p:cNvPr id="1037" name="Google Shape;1037;p73"/>
          <p:cNvCxnSpPr>
            <a:stCxn id="1035" idx="3"/>
            <a:endCxn id="1038" idx="2"/>
          </p:cNvCxnSpPr>
          <p:nvPr/>
        </p:nvCxnSpPr>
        <p:spPr>
          <a:xfrm flipH="1" rot="10800000">
            <a:off x="3197725" y="4039225"/>
            <a:ext cx="16884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9" name="Google Shape;1039;p73"/>
          <p:cNvSpPr/>
          <p:nvPr/>
        </p:nvSpPr>
        <p:spPr>
          <a:xfrm>
            <a:off x="6935275" y="131767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</a:t>
            </a:r>
            <a:endParaRPr xmlns:a="http://schemas.openxmlformats.org/drawingml/2006/main"/>
          </a:p>
        </p:txBody>
      </p:sp>
      <p:sp>
        <p:nvSpPr>
          <p:cNvPr id="1040" name="Google Shape;1040;p73"/>
          <p:cNvSpPr/>
          <p:nvPr/>
        </p:nvSpPr>
        <p:spPr>
          <a:xfrm>
            <a:off x="6935275" y="26943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</a:t>
            </a:r>
            <a:endParaRPr xmlns:a="http://schemas.openxmlformats.org/drawingml/2006/main"/>
          </a:p>
        </p:txBody>
      </p:sp>
      <p:sp>
        <p:nvSpPr>
          <p:cNvPr id="1038" name="Google Shape;1038;p73"/>
          <p:cNvSpPr/>
          <p:nvPr/>
        </p:nvSpPr>
        <p:spPr>
          <a:xfrm>
            <a:off x="4886075" y="3551575"/>
            <a:ext cx="2481250" cy="9750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Document database</a:t>
            </a:r>
            <a:endParaRPr xmlns:a="http://schemas.openxmlformats.org/drawingml/2006/main"/>
          </a:p>
        </p:txBody>
      </p:sp>
      <p:sp>
        <p:nvSpPr>
          <p:cNvPr id="1041" name="Google Shape;1041;p73"/>
          <p:cNvSpPr/>
          <p:nvPr/>
        </p:nvSpPr>
        <p:spPr>
          <a:xfrm>
            <a:off x="6917175" y="39415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4"/>
          <p:cNvSpPr/>
          <p:nvPr/>
        </p:nvSpPr>
        <p:spPr>
          <a:xfrm>
            <a:off x="1316663" y="767925"/>
            <a:ext cx="6599400" cy="124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</a:t>
            </a:r>
            <a:endParaRPr xmlns:a="http://schemas.openxmlformats.org/drawingml/2006/main"/>
          </a:p>
        </p:txBody>
      </p:sp>
      <p:sp>
        <p:nvSpPr>
          <p:cNvPr id="1047" name="Google Shape;1047;p74"/>
          <p:cNvSpPr/>
          <p:nvPr/>
        </p:nvSpPr>
        <p:spPr>
          <a:xfrm>
            <a:off x="268100" y="1141450"/>
            <a:ext cx="1383600" cy="79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OP</a:t>
            </a:r>
            <a:endParaRPr xmlns:a="http://schemas.openxmlformats.org/drawingml/2006/main"/>
          </a:p>
        </p:txBody>
      </p:sp>
      <p:sp>
        <p:nvSpPr>
          <p:cNvPr id="1048" name="Google Shape;1048;p74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49" name="Google Shape;1049;p7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Refactoring 2: Relational Model</a:t>
            </a:r>
            <a:endParaRPr xmlns:a="http://schemas.openxmlformats.org/drawingml/2006/main"/>
          </a:p>
        </p:txBody>
      </p:sp>
      <p:sp>
        <p:nvSpPr>
          <p:cNvPr id="1050" name="Google Shape;1050;p74"/>
          <p:cNvSpPr/>
          <p:nvPr/>
        </p:nvSpPr>
        <p:spPr>
          <a:xfrm>
            <a:off x="4591025" y="711772"/>
            <a:ext cx="2706250" cy="12775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Relational database</a:t>
            </a:r>
            <a:endParaRPr xmlns:a="http://schemas.openxmlformats.org/drawingml/2006/main"/>
          </a:p>
        </p:txBody>
      </p:sp>
      <p:sp>
        <p:nvSpPr>
          <p:cNvPr id="1051" name="Google Shape;1051;p74"/>
          <p:cNvSpPr/>
          <p:nvPr/>
        </p:nvSpPr>
        <p:spPr>
          <a:xfrm>
            <a:off x="6707600" y="128702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</a:t>
            </a:r>
            <a:endParaRPr xmlns:a="http://schemas.openxmlformats.org/drawingml/2006/main"/>
          </a:p>
        </p:txBody>
      </p:sp>
      <p:sp>
        <p:nvSpPr>
          <p:cNvPr id="1052" name="Google Shape;1052;p74"/>
          <p:cNvSpPr/>
          <p:nvPr/>
        </p:nvSpPr>
        <p:spPr>
          <a:xfrm>
            <a:off x="2620825" y="10977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053" name="Google Shape;1053;p74"/>
          <p:cNvCxnSpPr>
            <a:stCxn id="1052" idx="1"/>
            <a:endCxn id="1047" idx="3"/>
          </p:cNvCxnSpPr>
          <p:nvPr/>
        </p:nvCxnSpPr>
        <p:spPr>
          <a:xfrm flipH="1">
            <a:off x="1651825" y="1448425"/>
            <a:ext cx="969000" cy="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4" name="Google Shape;1054;p74"/>
          <p:cNvCxnSpPr>
            <a:stCxn id="1052" idx="3"/>
            <a:endCxn id="1050" idx="2"/>
          </p:cNvCxnSpPr>
          <p:nvPr/>
        </p:nvCxnSpPr>
        <p:spPr>
          <a:xfrm flipH="1" rot="10800000">
            <a:off x="3502525" y="1350625"/>
            <a:ext cx="1088400" cy="9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5" name="Google Shape;1055;p74"/>
          <p:cNvSpPr/>
          <p:nvPr/>
        </p:nvSpPr>
        <p:spPr>
          <a:xfrm>
            <a:off x="1343486" y="2139525"/>
            <a:ext cx="6572700" cy="127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chemeClr val="accent2"/>
                </a:solidFill>
              </a:rPr>
              <a:t>Micros </a:t>
            </a: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1056" name="Google Shape;1056;p74"/>
          <p:cNvSpPr/>
          <p:nvPr/>
        </p:nvSpPr>
        <p:spPr>
          <a:xfrm>
            <a:off x="268100" y="2463350"/>
            <a:ext cx="13836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O.A</a:t>
            </a:r>
            <a:endParaRPr xmlns:a="http://schemas.openxmlformats.org/drawingml/2006/main"/>
          </a:p>
        </p:txBody>
      </p:sp>
      <p:sp>
        <p:nvSpPr>
          <p:cNvPr id="1057" name="Google Shape;1057;p74"/>
          <p:cNvSpPr/>
          <p:nvPr/>
        </p:nvSpPr>
        <p:spPr>
          <a:xfrm>
            <a:off x="4591025" y="2083372"/>
            <a:ext cx="2706250" cy="12775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Relational database</a:t>
            </a:r>
            <a:endParaRPr xmlns:a="http://schemas.openxmlformats.org/drawingml/2006/main"/>
          </a:p>
        </p:txBody>
      </p:sp>
      <p:sp>
        <p:nvSpPr>
          <p:cNvPr id="1058" name="Google Shape;1058;p74"/>
          <p:cNvSpPr/>
          <p:nvPr/>
        </p:nvSpPr>
        <p:spPr>
          <a:xfrm>
            <a:off x="1300200" y="3543550"/>
            <a:ext cx="65994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chemeClr val="accent2"/>
                </a:solidFill>
              </a:rPr>
              <a:t>Micros </a:t>
            </a: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1059" name="Google Shape;1059;p74"/>
          <p:cNvSpPr/>
          <p:nvPr/>
        </p:nvSpPr>
        <p:spPr>
          <a:xfrm>
            <a:off x="70875" y="3940300"/>
            <a:ext cx="13836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IF</a:t>
            </a:r>
            <a:endParaRPr xmlns:a="http://schemas.openxmlformats.org/drawingml/2006/main"/>
          </a:p>
        </p:txBody>
      </p:sp>
      <p:sp>
        <p:nvSpPr>
          <p:cNvPr id="1060" name="Google Shape;1060;p74"/>
          <p:cNvSpPr/>
          <p:nvPr/>
        </p:nvSpPr>
        <p:spPr>
          <a:xfrm>
            <a:off x="5691750" y="3101800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B.A</a:t>
            </a:r>
            <a:endParaRPr xmlns:a="http://schemas.openxmlformats.org/drawingml/2006/main"/>
          </a:p>
        </p:txBody>
      </p:sp>
      <p:sp>
        <p:nvSpPr>
          <p:cNvPr id="1061" name="Google Shape;1061;p74"/>
          <p:cNvSpPr/>
          <p:nvPr/>
        </p:nvSpPr>
        <p:spPr>
          <a:xfrm>
            <a:off x="6537075" y="29272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</a:t>
            </a:r>
            <a:endParaRPr xmlns:a="http://schemas.openxmlformats.org/drawingml/2006/main"/>
          </a:p>
        </p:txBody>
      </p:sp>
      <p:sp>
        <p:nvSpPr>
          <p:cNvPr id="1062" name="Google Shape;1062;p74"/>
          <p:cNvSpPr/>
          <p:nvPr/>
        </p:nvSpPr>
        <p:spPr>
          <a:xfrm>
            <a:off x="2392225" y="24693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063" name="Google Shape;1063;p74"/>
          <p:cNvCxnSpPr>
            <a:stCxn id="1062" idx="1"/>
            <a:endCxn id="1056" idx="3"/>
          </p:cNvCxnSpPr>
          <p:nvPr/>
        </p:nvCxnSpPr>
        <p:spPr>
          <a:xfrm rot="10800000">
            <a:off x="1651825" y="2814025"/>
            <a:ext cx="7404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4" name="Google Shape;1064;p74"/>
          <p:cNvCxnSpPr>
            <a:stCxn id="1062" idx="3"/>
            <a:endCxn id="1057" idx="2"/>
          </p:cNvCxnSpPr>
          <p:nvPr/>
        </p:nvCxnSpPr>
        <p:spPr>
          <a:xfrm flipH="1" rot="10800000">
            <a:off x="3273925" y="2722225"/>
            <a:ext cx="1317000" cy="9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5" name="Google Shape;1065;p74"/>
          <p:cNvSpPr/>
          <p:nvPr/>
        </p:nvSpPr>
        <p:spPr>
          <a:xfrm>
            <a:off x="4591025" y="3531172"/>
            <a:ext cx="2706250" cy="12775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Relational database</a:t>
            </a:r>
            <a:endParaRPr xmlns:a="http://schemas.openxmlformats.org/drawingml/2006/main"/>
          </a:p>
        </p:txBody>
      </p:sp>
      <p:sp>
        <p:nvSpPr>
          <p:cNvPr id="1066" name="Google Shape;1066;p74"/>
          <p:cNvSpPr/>
          <p:nvPr/>
        </p:nvSpPr>
        <p:spPr>
          <a:xfrm>
            <a:off x="2316025" y="39171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067" name="Google Shape;1067;p74"/>
          <p:cNvCxnSpPr>
            <a:stCxn id="1066" idx="1"/>
            <a:endCxn id="1059" idx="3"/>
          </p:cNvCxnSpPr>
          <p:nvPr/>
        </p:nvCxnSpPr>
        <p:spPr>
          <a:xfrm flipH="1">
            <a:off x="1454425" y="4267825"/>
            <a:ext cx="8616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8" name="Google Shape;1068;p74"/>
          <p:cNvSpPr/>
          <p:nvPr/>
        </p:nvSpPr>
        <p:spPr>
          <a:xfrm>
            <a:off x="6308475" y="4451275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</a:t>
            </a:r>
            <a:endParaRPr xmlns:a="http://schemas.openxmlformats.org/drawingml/2006/main"/>
          </a:p>
        </p:txBody>
      </p:sp>
      <p:cxnSp>
        <p:nvCxnSpPr>
          <p:cNvPr id="1069" name="Google Shape;1069;p74"/>
          <p:cNvCxnSpPr>
            <a:stCxn id="1066" idx="3"/>
            <a:endCxn id="1065" idx="2"/>
          </p:cNvCxnSpPr>
          <p:nvPr/>
        </p:nvCxnSpPr>
        <p:spPr>
          <a:xfrm flipH="1" rot="10800000">
            <a:off x="3197725" y="4170025"/>
            <a:ext cx="1393200" cy="9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0" name="Google Shape;1070;p74"/>
          <p:cNvSpPr/>
          <p:nvPr/>
        </p:nvSpPr>
        <p:spPr>
          <a:xfrm>
            <a:off x="6758550" y="4092400"/>
            <a:ext cx="455400" cy="2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B.A</a:t>
            </a:r>
            <a:endParaRPr xmlns:a="http://schemas.openxmlformats.org/drawingml/2006/main"/>
          </a:p>
        </p:txBody>
      </p:sp>
      <p:sp>
        <p:nvSpPr>
          <p:cNvPr id="1071" name="Google Shape;1071;p74"/>
          <p:cNvSpPr/>
          <p:nvPr/>
        </p:nvSpPr>
        <p:spPr>
          <a:xfrm>
            <a:off x="4851050" y="592675"/>
            <a:ext cx="2031696" cy="4296942"/>
          </a:xfrm>
          <a:prstGeom prst="lightningBol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75"/>
          <p:cNvSpPr/>
          <p:nvPr/>
        </p:nvSpPr>
        <p:spPr>
          <a:xfrm>
            <a:off x="1316675" y="767925"/>
            <a:ext cx="61722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</a:t>
            </a:r>
            <a:endParaRPr xmlns:a="http://schemas.openxmlformats.org/drawingml/2006/main"/>
          </a:p>
        </p:txBody>
      </p:sp>
      <p:sp>
        <p:nvSpPr>
          <p:cNvPr id="1077" name="Google Shape;1077;p75"/>
          <p:cNvSpPr/>
          <p:nvPr/>
        </p:nvSpPr>
        <p:spPr>
          <a:xfrm>
            <a:off x="268100" y="1141450"/>
            <a:ext cx="1383600" cy="79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OP</a:t>
            </a:r>
            <a:endParaRPr xmlns:a="http://schemas.openxmlformats.org/drawingml/2006/main"/>
          </a:p>
        </p:txBody>
      </p:sp>
      <p:sp>
        <p:nvSpPr>
          <p:cNvPr id="1078" name="Google Shape;1078;p75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79" name="Google Shape;1079;p7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 xmlns:a="http://schemas.openxmlformats.org/drawingml/2006/main">
              <a:rPr lang="en"/>
              <a:t>Initial situation: microservices based on documents</a:t>
            </a:r>
            <a:endParaRPr xmlns:a="http://schemas.openxmlformats.org/drawingml/2006/main"/>
          </a:p>
        </p:txBody>
      </p:sp>
      <p:sp>
        <p:nvSpPr>
          <p:cNvPr id="1080" name="Google Shape;1080;p75"/>
          <p:cNvSpPr/>
          <p:nvPr/>
        </p:nvSpPr>
        <p:spPr>
          <a:xfrm>
            <a:off x="4886075" y="884575"/>
            <a:ext cx="2481250" cy="9750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Document database</a:t>
            </a:r>
            <a:endParaRPr xmlns:a="http://schemas.openxmlformats.org/drawingml/2006/main"/>
          </a:p>
        </p:txBody>
      </p:sp>
      <p:sp>
        <p:nvSpPr>
          <p:cNvPr id="1081" name="Google Shape;1081;p75"/>
          <p:cNvSpPr/>
          <p:nvPr/>
        </p:nvSpPr>
        <p:spPr>
          <a:xfrm>
            <a:off x="2620825" y="10977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082" name="Google Shape;1082;p75"/>
          <p:cNvCxnSpPr>
            <a:stCxn id="1081" idx="1"/>
            <a:endCxn id="1077" idx="3"/>
          </p:cNvCxnSpPr>
          <p:nvPr/>
        </p:nvCxnSpPr>
        <p:spPr>
          <a:xfrm flipH="1">
            <a:off x="1651825" y="1448425"/>
            <a:ext cx="969000" cy="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3" name="Google Shape;1083;p75"/>
          <p:cNvCxnSpPr>
            <a:stCxn id="1081" idx="3"/>
            <a:endCxn id="1080" idx="2"/>
          </p:cNvCxnSpPr>
          <p:nvPr/>
        </p:nvCxnSpPr>
        <p:spPr>
          <a:xfrm flipH="1" rot="10800000">
            <a:off x="3502525" y="1372225"/>
            <a:ext cx="1383600" cy="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4" name="Google Shape;1084;p75"/>
          <p:cNvSpPr txBox="1"/>
          <p:nvPr/>
        </p:nvSpPr>
        <p:spPr>
          <a:xfrm>
            <a:off x="7606700" y="1799125"/>
            <a:ext cx="1442100" cy="831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BASE,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almost without redundancies</a:t>
            </a:r>
            <a:endParaRPr xmlns:a="http://schemas.openxmlformats.org/drawingml/2006/main"/>
          </a:p>
        </p:txBody>
      </p:sp>
      <p:sp>
        <p:nvSpPr>
          <p:cNvPr id="1085" name="Google Shape;1085;p75"/>
          <p:cNvSpPr/>
          <p:nvPr/>
        </p:nvSpPr>
        <p:spPr>
          <a:xfrm>
            <a:off x="1343476" y="2139525"/>
            <a:ext cx="6099600" cy="112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chemeClr val="accent2"/>
                </a:solidFill>
              </a:rPr>
              <a:t>Micros </a:t>
            </a: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1086" name="Google Shape;1086;p75"/>
          <p:cNvSpPr/>
          <p:nvPr/>
        </p:nvSpPr>
        <p:spPr>
          <a:xfrm>
            <a:off x="268100" y="2463350"/>
            <a:ext cx="13836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O.A</a:t>
            </a:r>
            <a:endParaRPr xmlns:a="http://schemas.openxmlformats.org/drawingml/2006/main"/>
          </a:p>
        </p:txBody>
      </p:sp>
      <p:sp>
        <p:nvSpPr>
          <p:cNvPr id="1087" name="Google Shape;1087;p75"/>
          <p:cNvSpPr/>
          <p:nvPr/>
        </p:nvSpPr>
        <p:spPr>
          <a:xfrm>
            <a:off x="1300200" y="3543550"/>
            <a:ext cx="61722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chemeClr val="accent2"/>
                </a:solidFill>
              </a:rPr>
              <a:t>Micros </a:t>
            </a: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1088" name="Google Shape;1088;p75"/>
          <p:cNvSpPr/>
          <p:nvPr/>
        </p:nvSpPr>
        <p:spPr>
          <a:xfrm>
            <a:off x="70875" y="3940300"/>
            <a:ext cx="13836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IF</a:t>
            </a:r>
            <a:endParaRPr xmlns:a="http://schemas.openxmlformats.org/drawingml/2006/main"/>
          </a:p>
        </p:txBody>
      </p:sp>
      <p:sp>
        <p:nvSpPr>
          <p:cNvPr id="1089" name="Google Shape;1089;p75"/>
          <p:cNvSpPr/>
          <p:nvPr/>
        </p:nvSpPr>
        <p:spPr>
          <a:xfrm>
            <a:off x="2392225" y="24693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090" name="Google Shape;1090;p75"/>
          <p:cNvCxnSpPr>
            <a:stCxn id="1089" idx="1"/>
            <a:endCxn id="1086" idx="3"/>
          </p:cNvCxnSpPr>
          <p:nvPr/>
        </p:nvCxnSpPr>
        <p:spPr>
          <a:xfrm rot="10800000">
            <a:off x="1651825" y="2814025"/>
            <a:ext cx="7404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1" name="Google Shape;1091;p75"/>
          <p:cNvCxnSpPr>
            <a:stCxn id="1089" idx="3"/>
            <a:endCxn id="1092" idx="2"/>
          </p:cNvCxnSpPr>
          <p:nvPr/>
        </p:nvCxnSpPr>
        <p:spPr>
          <a:xfrm flipH="1" rot="10800000">
            <a:off x="3273925" y="2667625"/>
            <a:ext cx="161220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3" name="Google Shape;1093;p75"/>
          <p:cNvSpPr/>
          <p:nvPr/>
        </p:nvSpPr>
        <p:spPr>
          <a:xfrm>
            <a:off x="2316025" y="39171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094" name="Google Shape;1094;p75"/>
          <p:cNvCxnSpPr>
            <a:stCxn id="1093" idx="1"/>
            <a:endCxn id="1088" idx="3"/>
          </p:cNvCxnSpPr>
          <p:nvPr/>
        </p:nvCxnSpPr>
        <p:spPr>
          <a:xfrm flipH="1">
            <a:off x="1454425" y="4267825"/>
            <a:ext cx="8616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2" name="Google Shape;1092;p75"/>
          <p:cNvSpPr/>
          <p:nvPr/>
        </p:nvSpPr>
        <p:spPr>
          <a:xfrm>
            <a:off x="4886075" y="2179975"/>
            <a:ext cx="2481250" cy="9750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Document database</a:t>
            </a:r>
            <a:endParaRPr xmlns:a="http://schemas.openxmlformats.org/drawingml/2006/main"/>
          </a:p>
        </p:txBody>
      </p:sp>
      <p:cxnSp>
        <p:nvCxnSpPr>
          <p:cNvPr id="1095" name="Google Shape;1095;p75"/>
          <p:cNvCxnSpPr>
            <a:stCxn id="1093" idx="3"/>
            <a:endCxn id="1096" idx="2"/>
          </p:cNvCxnSpPr>
          <p:nvPr/>
        </p:nvCxnSpPr>
        <p:spPr>
          <a:xfrm flipH="1" rot="10800000">
            <a:off x="3197725" y="4039225"/>
            <a:ext cx="16884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7" name="Google Shape;1097;p75"/>
          <p:cNvSpPr/>
          <p:nvPr/>
        </p:nvSpPr>
        <p:spPr>
          <a:xfrm>
            <a:off x="6935275" y="131767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</a:t>
            </a:r>
            <a:endParaRPr xmlns:a="http://schemas.openxmlformats.org/drawingml/2006/main"/>
          </a:p>
        </p:txBody>
      </p:sp>
      <p:sp>
        <p:nvSpPr>
          <p:cNvPr id="1098" name="Google Shape;1098;p75"/>
          <p:cNvSpPr/>
          <p:nvPr/>
        </p:nvSpPr>
        <p:spPr>
          <a:xfrm>
            <a:off x="6935275" y="26943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</a:t>
            </a:r>
            <a:endParaRPr xmlns:a="http://schemas.openxmlformats.org/drawingml/2006/main"/>
          </a:p>
        </p:txBody>
      </p:sp>
      <p:sp>
        <p:nvSpPr>
          <p:cNvPr id="1096" name="Google Shape;1096;p75"/>
          <p:cNvSpPr/>
          <p:nvPr/>
        </p:nvSpPr>
        <p:spPr>
          <a:xfrm>
            <a:off x="4886075" y="3551575"/>
            <a:ext cx="2481250" cy="9750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Document database</a:t>
            </a:r>
            <a:endParaRPr xmlns:a="http://schemas.openxmlformats.org/drawingml/2006/main"/>
          </a:p>
        </p:txBody>
      </p:sp>
      <p:sp>
        <p:nvSpPr>
          <p:cNvPr id="1099" name="Google Shape;1099;p75"/>
          <p:cNvSpPr/>
          <p:nvPr/>
        </p:nvSpPr>
        <p:spPr>
          <a:xfrm>
            <a:off x="6917175" y="39415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7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Example queries</a:t>
            </a:r>
            <a:endParaRPr xmlns:a="http://schemas.openxmlformats.org/drawingml/2006/main"/>
          </a:p>
        </p:txBody>
      </p:sp>
      <p:sp>
        <p:nvSpPr>
          <p:cNvPr id="1105" name="Google Shape;1105;p7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06" name="Google Shape;1106;p76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select * from publishers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Number of microservices calls: 1 (PublishersService)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select * from books where publisher_id = 42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Number of microservices calls: 1 (BooksService)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select book.title. publisher.name from books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Number of microservices calls: 2 (BooksService -&gt; pub_id -&gt;PublishersService)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select publisher_name, book.title where publisher_id = 42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Number of microservices calls: 2 (PublishersService -&gt; List of Book ISBNs -&gt;BooksService)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The multiple calls to the microservices are orchestrated by the actor or an upstream service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7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Optimization: “Query First”</a:t>
            </a:r>
            <a:endParaRPr xmlns:a="http://schemas.openxmlformats.org/drawingml/2006/main"/>
          </a:p>
        </p:txBody>
      </p:sp>
      <p:sp>
        <p:nvSpPr>
          <p:cNvPr id="1112" name="Google Shape;1112;p7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13" name="Google Shape;1113;p7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The data should be stored in such a way that the number of necessary network calls from the actor to the microservice is 1</a:t>
            </a:r>
            <a:endParaRPr xmlns:a="http://schemas.openxmlformats.org/drawingml/2006/main"/>
          </a:p>
          <a:p>
            <a:pPr xmlns:a="http://schemas.openxmlformats.org/drawingml/2006/main"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implementation</a:t>
            </a:r>
            <a:endParaRPr xmlns:a="http://schemas.openxmlformats.org/drawingml/2006/main"/>
          </a:p>
          <a:p>
            <a:pPr xmlns:a="http://schemas.openxmlformats.org/drawingml/2006/main"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 xmlns:a="http://schemas.openxmlformats.org/drawingml/2006/main">
              <a:rPr lang="en"/>
              <a:t>Chaining microservices calls internally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-355600" lvl="0" marL="9144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 xmlns:a="http://schemas.openxmlformats.org/drawingml/2006/main">
              <a:rPr lang="en"/>
              <a:t>Redundant data storage</a:t>
            </a:r>
            <a:endParaRPr xmlns:a="http://schemas.openxmlformats.org/drawingml/2006/main"/>
          </a:p>
        </p:txBody>
      </p:sp>
      <p:sp>
        <p:nvSpPr>
          <p:cNvPr id="1114" name="Google Shape;1114;p77"/>
          <p:cNvSpPr/>
          <p:nvPr/>
        </p:nvSpPr>
        <p:spPr>
          <a:xfrm>
            <a:off x="2988650" y="2326625"/>
            <a:ext cx="819300" cy="33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Actor</a:t>
            </a:r>
            <a:endParaRPr xmlns:a="http://schemas.openxmlformats.org/drawingml/2006/main"/>
          </a:p>
        </p:txBody>
      </p:sp>
      <p:sp>
        <p:nvSpPr>
          <p:cNvPr id="1115" name="Google Shape;1115;p77"/>
          <p:cNvSpPr/>
          <p:nvPr/>
        </p:nvSpPr>
        <p:spPr>
          <a:xfrm>
            <a:off x="4442350" y="2320775"/>
            <a:ext cx="7122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MS1</a:t>
            </a:r>
            <a:endParaRPr xmlns:a="http://schemas.openxmlformats.org/drawingml/2006/main"/>
          </a:p>
        </p:txBody>
      </p:sp>
      <p:sp>
        <p:nvSpPr>
          <p:cNvPr id="1116" name="Google Shape;1116;p77"/>
          <p:cNvSpPr/>
          <p:nvPr/>
        </p:nvSpPr>
        <p:spPr>
          <a:xfrm>
            <a:off x="5864675" y="2320775"/>
            <a:ext cx="7122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MS2</a:t>
            </a:r>
            <a:endParaRPr xmlns:a="http://schemas.openxmlformats.org/drawingml/2006/main"/>
          </a:p>
        </p:txBody>
      </p:sp>
      <p:sp>
        <p:nvSpPr>
          <p:cNvPr id="1117" name="Google Shape;1117;p77"/>
          <p:cNvSpPr/>
          <p:nvPr/>
        </p:nvSpPr>
        <p:spPr>
          <a:xfrm>
            <a:off x="3642525" y="2455075"/>
            <a:ext cx="165300" cy="1110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1118" name="Google Shape;1118;p77"/>
          <p:cNvCxnSpPr>
            <a:stCxn id="1117" idx="6"/>
            <a:endCxn id="1115" idx="1"/>
          </p:cNvCxnSpPr>
          <p:nvPr/>
        </p:nvCxnSpPr>
        <p:spPr>
          <a:xfrm flipH="1" rot="10800000">
            <a:off x="3807825" y="2470075"/>
            <a:ext cx="634500" cy="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9" name="Google Shape;1119;p77"/>
          <p:cNvSpPr/>
          <p:nvPr/>
        </p:nvSpPr>
        <p:spPr>
          <a:xfrm>
            <a:off x="4937925" y="2455075"/>
            <a:ext cx="165300" cy="1110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cxnSp>
        <p:nvCxnSpPr>
          <p:cNvPr id="1120" name="Google Shape;1120;p77"/>
          <p:cNvCxnSpPr>
            <a:stCxn id="1119" idx="6"/>
            <a:endCxn id="1116" idx="1"/>
          </p:cNvCxnSpPr>
          <p:nvPr/>
        </p:nvCxnSpPr>
        <p:spPr>
          <a:xfrm flipH="1" rot="10800000">
            <a:off x="5103225" y="2470075"/>
            <a:ext cx="761400" cy="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1" name="Google Shape;1121;p77"/>
          <p:cNvSpPr txBox="1"/>
          <p:nvPr/>
        </p:nvSpPr>
        <p:spPr>
          <a:xfrm>
            <a:off x="6497425" y="2758650"/>
            <a:ext cx="1763100" cy="4002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Service Mash</a:t>
            </a:r>
            <a:endParaRPr xmlns:a="http://schemas.openxmlformats.org/drawingml/2006/main"/>
          </a:p>
        </p:txBody>
      </p:sp>
      <p:sp>
        <p:nvSpPr>
          <p:cNvPr id="1122" name="Google Shape;1122;p77"/>
          <p:cNvSpPr txBox="1"/>
          <p:nvPr/>
        </p:nvSpPr>
        <p:spPr>
          <a:xfrm>
            <a:off x="2235500" y="3850400"/>
            <a:ext cx="25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next page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78"/>
          <p:cNvSpPr/>
          <p:nvPr/>
        </p:nvSpPr>
        <p:spPr>
          <a:xfrm>
            <a:off x="1316675" y="767925"/>
            <a:ext cx="61722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</a:t>
            </a:r>
            <a:endParaRPr xmlns:a="http://schemas.openxmlformats.org/drawingml/2006/main"/>
          </a:p>
        </p:txBody>
      </p:sp>
      <p:sp>
        <p:nvSpPr>
          <p:cNvPr id="1128" name="Google Shape;1128;p78"/>
          <p:cNvSpPr/>
          <p:nvPr/>
        </p:nvSpPr>
        <p:spPr>
          <a:xfrm>
            <a:off x="268100" y="1141450"/>
            <a:ext cx="1383600" cy="79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OP</a:t>
            </a:r>
            <a:endParaRPr xmlns:a="http://schemas.openxmlformats.org/drawingml/2006/main"/>
          </a:p>
        </p:txBody>
      </p:sp>
      <p:sp>
        <p:nvSpPr>
          <p:cNvPr id="1129" name="Google Shape;1129;p78"/>
          <p:cNvSpPr txBox="1"/>
          <p:nvPr>
            <p:ph idx="12" type="sldNum"/>
          </p:nvPr>
        </p:nvSpPr>
        <p:spPr>
          <a:xfrm>
            <a:off x="8820154" y="4861775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30" name="Google Shape;1130;p7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Microservices based on documents with query first</a:t>
            </a:r>
            <a:endParaRPr xmlns:a="http://schemas.openxmlformats.org/drawingml/2006/main"/>
          </a:p>
        </p:txBody>
      </p:sp>
      <p:sp>
        <p:nvSpPr>
          <p:cNvPr id="1131" name="Google Shape;1131;p78"/>
          <p:cNvSpPr/>
          <p:nvPr/>
        </p:nvSpPr>
        <p:spPr>
          <a:xfrm>
            <a:off x="4886075" y="884575"/>
            <a:ext cx="2481250" cy="9750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Document database</a:t>
            </a:r>
            <a:endParaRPr xmlns:a="http://schemas.openxmlformats.org/drawingml/2006/main"/>
          </a:p>
        </p:txBody>
      </p:sp>
      <p:sp>
        <p:nvSpPr>
          <p:cNvPr id="1132" name="Google Shape;1132;p78"/>
          <p:cNvSpPr/>
          <p:nvPr/>
        </p:nvSpPr>
        <p:spPr>
          <a:xfrm>
            <a:off x="2620825" y="10977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133" name="Google Shape;1133;p78"/>
          <p:cNvCxnSpPr>
            <a:stCxn id="1132" idx="1"/>
            <a:endCxn id="1128" idx="3"/>
          </p:cNvCxnSpPr>
          <p:nvPr/>
        </p:nvCxnSpPr>
        <p:spPr>
          <a:xfrm flipH="1">
            <a:off x="1651825" y="1448425"/>
            <a:ext cx="969000" cy="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4" name="Google Shape;1134;p78"/>
          <p:cNvCxnSpPr>
            <a:stCxn id="1132" idx="3"/>
            <a:endCxn id="1131" idx="2"/>
          </p:cNvCxnSpPr>
          <p:nvPr/>
        </p:nvCxnSpPr>
        <p:spPr>
          <a:xfrm flipH="1" rot="10800000">
            <a:off x="3502525" y="1372225"/>
            <a:ext cx="1383600" cy="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5" name="Google Shape;1135;p78"/>
          <p:cNvSpPr txBox="1"/>
          <p:nvPr/>
        </p:nvSpPr>
        <p:spPr>
          <a:xfrm>
            <a:off x="7606700" y="1799125"/>
            <a:ext cx="1442100" cy="831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BASE,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with redundancies</a:t>
            </a:r>
            <a:endParaRPr xmlns:a="http://schemas.openxmlformats.org/drawingml/2006/main"/>
          </a:p>
        </p:txBody>
      </p:sp>
      <p:sp>
        <p:nvSpPr>
          <p:cNvPr id="1136" name="Google Shape;1136;p78"/>
          <p:cNvSpPr/>
          <p:nvPr/>
        </p:nvSpPr>
        <p:spPr>
          <a:xfrm>
            <a:off x="1343476" y="2139525"/>
            <a:ext cx="6099600" cy="112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chemeClr val="accent2"/>
                </a:solidFill>
              </a:rPr>
              <a:t>Micros </a:t>
            </a: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1137" name="Google Shape;1137;p78"/>
          <p:cNvSpPr/>
          <p:nvPr/>
        </p:nvSpPr>
        <p:spPr>
          <a:xfrm>
            <a:off x="268100" y="2463350"/>
            <a:ext cx="13836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O.A</a:t>
            </a:r>
            <a:endParaRPr xmlns:a="http://schemas.openxmlformats.org/drawingml/2006/main"/>
          </a:p>
        </p:txBody>
      </p:sp>
      <p:sp>
        <p:nvSpPr>
          <p:cNvPr id="1138" name="Google Shape;1138;p78"/>
          <p:cNvSpPr/>
          <p:nvPr/>
        </p:nvSpPr>
        <p:spPr>
          <a:xfrm>
            <a:off x="1300200" y="3543550"/>
            <a:ext cx="61722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chemeClr val="accent2"/>
                </a:solidFill>
              </a:rPr>
              <a:t>Micros </a:t>
            </a:r>
            <a:r xmlns:a="http://schemas.openxmlformats.org/drawingml/2006/main">
              <a:rPr lang="en"/>
              <a:t>service</a:t>
            </a:r>
            <a:endParaRPr xmlns:a="http://schemas.openxmlformats.org/drawingml/2006/main"/>
          </a:p>
        </p:txBody>
      </p:sp>
      <p:sp>
        <p:nvSpPr>
          <p:cNvPr id="1139" name="Google Shape;1139;p78"/>
          <p:cNvSpPr/>
          <p:nvPr/>
        </p:nvSpPr>
        <p:spPr>
          <a:xfrm>
            <a:off x="70875" y="3940300"/>
            <a:ext cx="13836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REST API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 xmlns:a="http://schemas.openxmlformats.org/drawingml/2006/main">
              <a:rPr lang="en"/>
              <a:t>IF</a:t>
            </a:r>
            <a:endParaRPr xmlns:a="http://schemas.openxmlformats.org/drawingml/2006/main"/>
          </a:p>
        </p:txBody>
      </p:sp>
      <p:sp>
        <p:nvSpPr>
          <p:cNvPr id="1140" name="Google Shape;1140;p78"/>
          <p:cNvSpPr/>
          <p:nvPr/>
        </p:nvSpPr>
        <p:spPr>
          <a:xfrm>
            <a:off x="2392225" y="24693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141" name="Google Shape;1141;p78"/>
          <p:cNvCxnSpPr>
            <a:stCxn id="1140" idx="1"/>
            <a:endCxn id="1137" idx="3"/>
          </p:cNvCxnSpPr>
          <p:nvPr/>
        </p:nvCxnSpPr>
        <p:spPr>
          <a:xfrm rot="10800000">
            <a:off x="1651825" y="2814025"/>
            <a:ext cx="7404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" name="Google Shape;1142;p78"/>
          <p:cNvCxnSpPr>
            <a:stCxn id="1140" idx="3"/>
            <a:endCxn id="1143" idx="2"/>
          </p:cNvCxnSpPr>
          <p:nvPr/>
        </p:nvCxnSpPr>
        <p:spPr>
          <a:xfrm flipH="1" rot="10800000">
            <a:off x="3273925" y="2667625"/>
            <a:ext cx="161220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4" name="Google Shape;1144;p78"/>
          <p:cNvSpPr/>
          <p:nvPr/>
        </p:nvSpPr>
        <p:spPr>
          <a:xfrm>
            <a:off x="2316025" y="3917125"/>
            <a:ext cx="8817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Impl</a:t>
            </a:r>
            <a:endParaRPr xmlns:a="http://schemas.openxmlformats.org/drawingml/2006/main"/>
          </a:p>
        </p:txBody>
      </p:sp>
      <p:cxnSp>
        <p:nvCxnSpPr>
          <p:cNvPr id="1145" name="Google Shape;1145;p78"/>
          <p:cNvCxnSpPr>
            <a:stCxn id="1144" idx="1"/>
            <a:endCxn id="1139" idx="3"/>
          </p:cNvCxnSpPr>
          <p:nvPr/>
        </p:nvCxnSpPr>
        <p:spPr>
          <a:xfrm flipH="1">
            <a:off x="1454425" y="4267825"/>
            <a:ext cx="8616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3" name="Google Shape;1143;p78"/>
          <p:cNvSpPr/>
          <p:nvPr/>
        </p:nvSpPr>
        <p:spPr>
          <a:xfrm>
            <a:off x="4886075" y="2179975"/>
            <a:ext cx="2481250" cy="9750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Document database</a:t>
            </a:r>
            <a:endParaRPr xmlns:a="http://schemas.openxmlformats.org/drawingml/2006/main"/>
          </a:p>
        </p:txBody>
      </p:sp>
      <p:cxnSp>
        <p:nvCxnSpPr>
          <p:cNvPr id="1146" name="Google Shape;1146;p78"/>
          <p:cNvCxnSpPr>
            <a:stCxn id="1144" idx="3"/>
            <a:endCxn id="1147" idx="2"/>
          </p:cNvCxnSpPr>
          <p:nvPr/>
        </p:nvCxnSpPr>
        <p:spPr>
          <a:xfrm flipH="1" rot="10800000">
            <a:off x="3197725" y="4039225"/>
            <a:ext cx="16884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8" name="Google Shape;1148;p78"/>
          <p:cNvSpPr/>
          <p:nvPr/>
        </p:nvSpPr>
        <p:spPr>
          <a:xfrm>
            <a:off x="6935275" y="131767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</a:t>
            </a:r>
            <a:endParaRPr xmlns:a="http://schemas.openxmlformats.org/drawingml/2006/main"/>
          </a:p>
        </p:txBody>
      </p:sp>
      <p:sp>
        <p:nvSpPr>
          <p:cNvPr id="1149" name="Google Shape;1149;p78"/>
          <p:cNvSpPr/>
          <p:nvPr/>
        </p:nvSpPr>
        <p:spPr>
          <a:xfrm>
            <a:off x="6935275" y="26943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</a:t>
            </a:r>
            <a:endParaRPr xmlns:a="http://schemas.openxmlformats.org/drawingml/2006/main"/>
          </a:p>
        </p:txBody>
      </p:sp>
      <p:sp>
        <p:nvSpPr>
          <p:cNvPr id="1147" name="Google Shape;1147;p78"/>
          <p:cNvSpPr/>
          <p:nvPr/>
        </p:nvSpPr>
        <p:spPr>
          <a:xfrm>
            <a:off x="4886075" y="3551575"/>
            <a:ext cx="2481250" cy="9750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Document database</a:t>
            </a:r>
            <a:endParaRPr xmlns:a="http://schemas.openxmlformats.org/drawingml/2006/main"/>
          </a:p>
        </p:txBody>
      </p:sp>
      <p:sp>
        <p:nvSpPr>
          <p:cNvPr id="1150" name="Google Shape;1150;p78"/>
          <p:cNvSpPr/>
          <p:nvPr/>
        </p:nvSpPr>
        <p:spPr>
          <a:xfrm>
            <a:off x="6917175" y="3941525"/>
            <a:ext cx="3970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</a:t>
            </a:r>
            <a:endParaRPr xmlns:a="http://schemas.openxmlformats.org/drawingml/2006/main"/>
          </a:p>
        </p:txBody>
      </p:sp>
      <p:sp>
        <p:nvSpPr>
          <p:cNvPr id="1151" name="Google Shape;1151;p78"/>
          <p:cNvSpPr/>
          <p:nvPr/>
        </p:nvSpPr>
        <p:spPr>
          <a:xfrm>
            <a:off x="5767825" y="4243250"/>
            <a:ext cx="1091575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P_Proj1</a:t>
            </a:r>
            <a:endParaRPr xmlns:a="http://schemas.openxmlformats.org/drawingml/2006/main"/>
          </a:p>
        </p:txBody>
      </p:sp>
      <p:sp>
        <p:nvSpPr>
          <p:cNvPr id="1152" name="Google Shape;1152;p78"/>
          <p:cNvSpPr/>
          <p:nvPr/>
        </p:nvSpPr>
        <p:spPr>
          <a:xfrm>
            <a:off x="5102075" y="1524825"/>
            <a:ext cx="1249400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B_Proj1</a:t>
            </a:r>
            <a:endParaRPr xmlns:a="http://schemas.openxmlformats.org/drawingml/2006/main"/>
          </a:p>
        </p:txBody>
      </p:sp>
      <p:sp>
        <p:nvSpPr>
          <p:cNvPr id="1153" name="Google Shape;1153;p78"/>
          <p:cNvSpPr/>
          <p:nvPr/>
        </p:nvSpPr>
        <p:spPr>
          <a:xfrm>
            <a:off x="5944675" y="3532525"/>
            <a:ext cx="1043175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A_Proj1</a:t>
            </a:r>
            <a:endParaRPr xmlns:a="http://schemas.openxmlformats.org/drawingml/2006/main"/>
          </a:p>
        </p:txBody>
      </p:sp>
      <p:sp>
        <p:nvSpPr>
          <p:cNvPr id="1154" name="Google Shape;1154;p78"/>
          <p:cNvSpPr/>
          <p:nvPr/>
        </p:nvSpPr>
        <p:spPr>
          <a:xfrm>
            <a:off x="5716075" y="941725"/>
            <a:ext cx="1043175" cy="350300"/>
          </a:xfrm>
          <a:prstGeom prst="flowChartMagneticDisk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A_Proj2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avacream">
  <a:themeElements>
    <a:clrScheme name="Benutzerdefiniert 3">
      <a:dk1>
        <a:srgbClr val="3C78D8"/>
      </a:dk1>
      <a:lt1>
        <a:srgbClr val="FFFFFF"/>
      </a:lt1>
      <a:dk2>
        <a:srgbClr val="3C78D8"/>
      </a:dk2>
      <a:lt2>
        <a:srgbClr val="FFFFFF"/>
      </a:lt2>
      <a:accent1>
        <a:srgbClr val="1155CC"/>
      </a:accent1>
      <a:accent2>
        <a:srgbClr val="000000"/>
      </a:accent2>
      <a:accent3>
        <a:srgbClr val="0000FF"/>
      </a:accent3>
      <a:accent4>
        <a:srgbClr val="F6A800"/>
      </a:accent4>
      <a:accent5>
        <a:srgbClr val="E95E0F"/>
      </a:accent5>
      <a:accent6>
        <a:srgbClr val="65599F"/>
      </a:accent6>
      <a:hlink>
        <a:srgbClr val="B0CB51"/>
      </a:hlink>
      <a:folHlink>
        <a:srgbClr val="E0519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